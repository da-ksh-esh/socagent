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A054958-1259-AB2D-622D-177567F8DA70}">
          <p14:sldIdLst>
            <p14:sldId id="256"/>
            <p14:sldId id="257"/>
            <p14:sldId id="258"/>
          </p14:sldIdLst>
        </p14:section>
        <p14:section name="Solution" id="{95BBE829-427D-AB86-24F8-976FAA0EE693}">
          <p14:sldIdLst>
            <p14:sldId id="259"/>
            <p14:sldId id="260"/>
            <p14:sldId id="261"/>
            <p14:sldId id="262"/>
          </p14:sldIdLst>
        </p14:section>
        <p14:section name="Evaluation" id="{729D5222-C3B6-67B6-6931-844EED2788F4}">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6377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Introduce both team members and say who built which part. One-line hook: a SOC gets more alerts than analysts can read, so we built six agents that triage them and a Critic that checks their 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Explain alert fatigue in one breath. Then say why this needs agents: separate steps, branching decisions, and a validator. A plain chatbot cannot call tools and its answers are unchecked.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The brief asks for planning, tool execution, decision-making, validation and collaboration. We map each to a part of the system. Everything is free and local, and all data is synthetic.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Trace one incident along the diagram: alerts enter at the top, go through Planner, Research and Executor, then Critic checkpoint 1. The severity router sends low incidents to auto-close, medium to the analyst queue and high through the Software Development agent and Critic checkpoint 2. The red dashed lines are Critic retries. The LLM sits outside the graph and never decides.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All six roles from the brief are used. Planner, Research and Executor investigate; the Critic validates; Software Development writes the playbook and detection rule; Business Automation handles tickets, notifications and the report. Only Research and the report writers use the LLM, and the Critic fact-checks everything it writes.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then switch to the live demo. Start Ollama before presenting. In the demo: set fault injection to Critic loops, press Run, and point at the trace when Critic checkpoint 1 rejects a missing lookup and only that lookup reruns. Then approve containment for INC-002 (severity 95) when the run pauses.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This is the ablation: we injected 42 faults, 7 types times 6 runs. With the Critic enforcing, all 42 were caught and corrected by a retry. With it disabled, all 42 reached the final output: wrong scores, invented kill-chain stages, rules that fire on benign logs, and playbooks that isolate a host before preserving evidence.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The demo dataset has four hidden attack chains in 127 benign alerts. All four were found and none of the benign alerts was escalated. Across 15 generated datasets we found 57 of 60 chains; the three misses are one case where phishing lands on a low-criticality host and scores 65. Be upfront that these are scripted attacks.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Be honest: the strong scores come from scripted attacks that the correlation rules were written to recognise. They show the pipeline works end to end, not that it would catch a new technique. Next steps are a real SIEM, public datasets, learned rubric weights and authentication.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in about 10 seconds and invite questions. Both team members should be ready to answer on any agent, the orchestration graph, the severity rubric and the validation checks.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RT_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200400" y="1188720"/>
            <a:ext cx="5852160" cy="2651760"/>
          </a:xfrm>
          <a:prstGeom prst="rect">
            <a:avLst/>
          </a:prstGeom>
          <a:noFill/>
          <a:ln/>
        </p:spPr>
        <p:txBody>
          <a:bodyPr wrap="square" rtlCol="0"/>
          <a:lstStyle>
            <a:lvl1pPr marL="0" indent="0" algn="l">
              <a:lnSpc>
                <a:spcPct val="95000"/>
              </a:lnSpc>
              <a:buNone/>
              <a:defRPr lang="en-US" sz="6000" b="1" dirty="0">
                <a:solidFill>
                  <a:schemeClr val="accent1"/>
                </a:solidFill>
                <a:latin typeface="Arial" pitchFamily="34" charset="0"/>
                <a:ea typeface="Arial" pitchFamily="34" charset="-122"/>
                <a:cs typeface="Arial" pitchFamily="34" charset="-120"/>
              </a:defRPr>
            </a:lvl1pPr>
          </a:lstStyle>
          <a:p>
            <a:pPr marL="0" indent="0" algn="l">
              <a:lnSpc>
                <a:spcPct val="95000"/>
              </a:lnSpc>
              <a:buNone/>
            </a:pPr>
            <a:endParaRPr lang="en-US" sz="6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RT_PROBLEM">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2743200" y="868680"/>
            <a:ext cx="6675120" cy="822960"/>
          </a:xfrm>
          <a:prstGeom prst="rect">
            <a:avLst/>
          </a:prstGeom>
          <a:noFill/>
          <a:ln/>
        </p:spPr>
        <p:txBody>
          <a:bodyPr wrap="square" rtlCol="0"/>
          <a:lstStyle>
            <a:lvl1pPr marL="0" indent="0" algn="ctr">
              <a:buNone/>
              <a:defRPr lang="en-US" sz="4000" b="1" dirty="0">
                <a:solidFill>
                  <a:schemeClr val="accent1"/>
                </a:solidFill>
                <a:latin typeface="Arial" pitchFamily="34" charset="0"/>
                <a:ea typeface="Arial" pitchFamily="34" charset="-122"/>
                <a:cs typeface="Arial" pitchFamily="34" charset="-120"/>
              </a:defRPr>
            </a:lvl1pPr>
          </a:lstStyle>
          <a:p>
            <a:pPr marL="0" indent="0" algn="ctr">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RT_SCOP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978408" y="1097280"/>
            <a:ext cx="7223760" cy="1097280"/>
          </a:xfrm>
          <a:prstGeom prst="rect">
            <a:avLst/>
          </a:prstGeom>
          <a:noFill/>
          <a:ln/>
        </p:spPr>
        <p:txBody>
          <a:bodyPr wrap="square" rtlCol="0"/>
          <a:lstStyle>
            <a:lvl1pPr marL="0" indent="0" algn="l">
              <a:buNone/>
              <a:defRPr lang="en-US" sz="4400" b="1" dirty="0">
                <a:solidFill>
                  <a:schemeClr val="accent1"/>
                </a:solidFill>
                <a:latin typeface="Arial" pitchFamily="34" charset="0"/>
                <a:ea typeface="Arial" pitchFamily="34" charset="-122"/>
                <a:cs typeface="Arial" pitchFamily="34" charset="-120"/>
              </a:defRPr>
            </a:lvl1pPr>
          </a:lstStyle>
          <a:p>
            <a:pPr marL="0" indent="0" algn="l">
              <a:buNone/>
            </a:pPr>
            <a:endParaRPr lang="en-US" sz="44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RT_ARCH">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543800" y="822960"/>
            <a:ext cx="4297680" cy="1463040"/>
          </a:xfrm>
          <a:prstGeom prst="rect">
            <a:avLst/>
          </a:prstGeom>
          <a:noFill/>
          <a:ln/>
        </p:spPr>
        <p:txBody>
          <a:bodyPr wrap="square" rtlCol="0"/>
          <a:lstStyle>
            <a:lvl1pPr marL="0" indent="0" algn="l">
              <a:buNone/>
              <a:defRPr lang="en-US" sz="3600" b="1" dirty="0">
                <a:solidFill>
                  <a:schemeClr val="bg1"/>
                </a:solidFill>
                <a:latin typeface="Arial" pitchFamily="34" charset="0"/>
                <a:ea typeface="Arial" pitchFamily="34" charset="-122"/>
                <a:cs typeface="Arial" pitchFamily="34" charset="-120"/>
              </a:defRPr>
            </a:lvl1pPr>
          </a:lstStyle>
          <a:p>
            <a:pPr marL="0" indent="0" algn="l">
              <a:buNone/>
            </a:pPr>
            <a:endParaRPr lang="en-US" sz="36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RT_AGEN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749040" y="868680"/>
            <a:ext cx="7863840" cy="914400"/>
          </a:xfrm>
          <a:prstGeom prst="rect">
            <a:avLst/>
          </a:prstGeom>
          <a:noFill/>
          <a:ln/>
        </p:spPr>
        <p:txBody>
          <a:bodyPr wrap="square" rtlCol="0"/>
          <a:lstStyle>
            <a:lvl1pPr marL="0" indent="0" algn="l">
              <a:buNone/>
              <a:defRPr lang="en-US" sz="4400" b="1" dirty="0">
                <a:solidFill>
                  <a:schemeClr val="accent1"/>
                </a:solidFill>
                <a:latin typeface="Arial" pitchFamily="34" charset="0"/>
                <a:ea typeface="Arial" pitchFamily="34" charset="-122"/>
                <a:cs typeface="Arial" pitchFamily="34" charset="-120"/>
              </a:defRPr>
            </a:lvl1pPr>
          </a:lstStyle>
          <a:p>
            <a:pPr marL="0" indent="0" algn="l">
              <a:buNone/>
            </a:pPr>
            <a:endParaRPr lang="en-US" sz="44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RT_STEP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371600" y="868680"/>
            <a:ext cx="9418320" cy="1188720"/>
          </a:xfrm>
          <a:prstGeom prst="rect">
            <a:avLst/>
          </a:prstGeom>
          <a:noFill/>
          <a:ln/>
        </p:spPr>
        <p:txBody>
          <a:bodyPr wrap="square" rtlCol="0"/>
          <a:lstStyle>
            <a:lvl1pPr marL="0" indent="0" algn="ctr">
              <a:buNone/>
              <a:defRPr lang="en-US" sz="4400" b="1" dirty="0">
                <a:solidFill>
                  <a:schemeClr val="bg1"/>
                </a:solidFill>
                <a:latin typeface="Arial" pitchFamily="34" charset="0"/>
                <a:ea typeface="Arial" pitchFamily="34" charset="-122"/>
                <a:cs typeface="Arial" pitchFamily="34" charset="-120"/>
              </a:defRPr>
            </a:lvl1pPr>
          </a:lstStyle>
          <a:p>
            <a:pPr marL="0" indent="0" algn="ctr">
              <a:buNone/>
            </a:pPr>
            <a:endParaRPr lang="en-US" sz="440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RT_CRIT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216152" y="868680"/>
            <a:ext cx="6400800" cy="1005840"/>
          </a:xfrm>
          <a:prstGeom prst="rect">
            <a:avLst/>
          </a:prstGeom>
          <a:noFill/>
          <a:ln/>
        </p:spPr>
        <p:txBody>
          <a:bodyPr wrap="square" rtlCol="0"/>
          <a:lstStyle>
            <a:lvl1pPr marL="0" indent="0" algn="l">
              <a:buNone/>
              <a:defRPr lang="en-US" sz="4800" b="1" dirty="0">
                <a:solidFill>
                  <a:schemeClr val="bg1"/>
                </a:solidFill>
                <a:latin typeface="Arial" pitchFamily="34" charset="0"/>
                <a:ea typeface="Arial" pitchFamily="34" charset="-122"/>
                <a:cs typeface="Arial" pitchFamily="34" charset="-120"/>
              </a:defRPr>
            </a:lvl1pPr>
          </a:lstStyle>
          <a:p>
            <a:pPr marL="0" indent="0" algn="l">
              <a:buNone/>
            </a:pPr>
            <a:endParaRPr lang="en-US" sz="480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RT_RESUL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828800" y="868680"/>
            <a:ext cx="8503920" cy="1005840"/>
          </a:xfrm>
          <a:prstGeom prst="rect">
            <a:avLst/>
          </a:prstGeom>
          <a:noFill/>
          <a:ln/>
        </p:spPr>
        <p:txBody>
          <a:bodyPr wrap="square" rtlCol="0"/>
          <a:lstStyle>
            <a:lvl1pPr marL="0" indent="0" algn="ctr">
              <a:buNone/>
              <a:defRPr lang="en-US" sz="4000" b="1" dirty="0">
                <a:solidFill>
                  <a:schemeClr val="accent1"/>
                </a:solidFill>
                <a:latin typeface="Arial" pitchFamily="34" charset="0"/>
                <a:ea typeface="Arial" pitchFamily="34" charset="-122"/>
                <a:cs typeface="Arial" pitchFamily="34" charset="-120"/>
              </a:defRPr>
            </a:lvl1pPr>
          </a:lstStyle>
          <a:p>
            <a:pPr marL="0" indent="0" algn="ctr">
              <a:buNone/>
            </a:pPr>
            <a:endParaRPr lang="en-US" sz="400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RT_COL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2286000" y="731520"/>
            <a:ext cx="7589520" cy="1554480"/>
          </a:xfrm>
          <a:prstGeom prst="rect">
            <a:avLst/>
          </a:prstGeom>
          <a:noFill/>
          <a:ln/>
        </p:spPr>
        <p:txBody>
          <a:bodyPr wrap="square" rtlCol="0"/>
          <a:lstStyle>
            <a:lvl1pPr marL="0" indent="0" algn="ctr">
              <a:buNone/>
              <a:defRPr lang="en-US" sz="4000" b="1" dirty="0">
                <a:solidFill>
                  <a:schemeClr val="accent1"/>
                </a:solidFill>
                <a:latin typeface="Arial" pitchFamily="34" charset="0"/>
                <a:ea typeface="Arial" pitchFamily="34" charset="-122"/>
                <a:cs typeface="Arial" pitchFamily="34" charset="-120"/>
              </a:defRPr>
            </a:lvl1pPr>
          </a:lstStyle>
          <a:p>
            <a:pPr marL="0" indent="0" algn="ctr">
              <a:buNone/>
            </a:pPr>
            <a:endParaRPr lang="en-US" sz="4000"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RT_THANK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2286000" y="2331720"/>
            <a:ext cx="7589520" cy="1188720"/>
          </a:xfrm>
          <a:prstGeom prst="rect">
            <a:avLst/>
          </a:prstGeom>
          <a:noFill/>
          <a:ln/>
        </p:spPr>
        <p:txBody>
          <a:bodyPr wrap="square" rtlCol="0"/>
          <a:lstStyle>
            <a:lvl1pPr marL="0" indent="0" algn="ctr">
              <a:buNone/>
              <a:defRPr lang="en-US" sz="7200" b="1" dirty="0">
                <a:solidFill>
                  <a:schemeClr val="accent1"/>
                </a:solidFill>
                <a:latin typeface="Arial" pitchFamily="34" charset="0"/>
                <a:ea typeface="Arial" pitchFamily="34" charset="-122"/>
                <a:cs typeface="Arial" pitchFamily="34" charset="-120"/>
              </a:defRPr>
            </a:lvl1pPr>
          </a:lstStyle>
          <a:p>
            <a:pPr marL="0" indent="0" algn="ctr">
              <a:buNone/>
            </a:pPr>
            <a:endParaRPr lang="en-US" sz="720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200400" y="1188720"/>
            <a:ext cx="5852160" cy="2651760"/>
          </a:xfrm>
          <a:prstGeom prst="rect">
            <a:avLst/>
          </a:prstGeom>
          <a:noFill/>
          <a:ln/>
        </p:spPr>
        <p:txBody>
          <a:bodyPr wrap="square" lIns="0" tIns="0" rIns="0" bIns="0" rtlCol="0" anchor="t"/>
          <a:lstStyle/>
          <a:p>
            <a:pPr marL="0" indent="0" algn="l">
              <a:lnSpc>
                <a:spcPct val="95000"/>
              </a:lnSpc>
              <a:buNone/>
            </a:pPr>
            <a:r>
              <a:rPr lang="en-US" sz="6000" b="1" dirty="0">
                <a:solidFill>
                  <a:schemeClr val="accent1"/>
                </a:solidFill>
                <a:latin typeface="Arial" pitchFamily="34" charset="0"/>
                <a:ea typeface="Arial" pitchFamily="34" charset="-122"/>
                <a:cs typeface="Arial" pitchFamily="34" charset="-120"/>
              </a:rPr>
              <a:t>MULTI-AGENT SOC ALERT TRIAGE</a:t>
            </a:r>
            <a:endParaRPr lang="en-US" sz="6000" dirty="0"/>
          </a:p>
        </p:txBody>
      </p:sp>
      <p:sp>
        <p:nvSpPr>
          <p:cNvPr id="3" name="Subtitle"/>
          <p:cNvSpPr txBox="1"/>
          <p:nvPr/>
        </p:nvSpPr>
        <p:spPr>
          <a:xfrm>
            <a:off x="3200400" y="3931920"/>
            <a:ext cx="6400800" cy="548640"/>
          </a:xfrm>
          <a:prstGeom prst="rect">
            <a:avLst/>
          </a:prstGeom>
          <a:noFill/>
          <a:ln/>
        </p:spPr>
        <p:txBody>
          <a:bodyPr wrap="square" lIns="0" tIns="0" rIns="0" bIns="0" rtlCol="0" anchor="t"/>
          <a:lstStyle/>
          <a:p>
            <a:pPr marL="0" indent="0">
              <a:buNone/>
            </a:pPr>
            <a:r>
              <a:rPr lang="en-US" sz="2600" b="1" dirty="0">
                <a:solidFill>
                  <a:schemeClr val="accent1"/>
                </a:solidFill>
                <a:latin typeface="Arial" pitchFamily="34" charset="0"/>
                <a:ea typeface="Arial" pitchFamily="34" charset="-122"/>
                <a:cs typeface="Arial" pitchFamily="34" charset="-120"/>
              </a:rPr>
              <a:t>and Incident Response Assistant</a:t>
            </a:r>
            <a:endParaRPr lang="en-US" sz="2600" dirty="0"/>
          </a:p>
        </p:txBody>
      </p:sp>
      <p:sp>
        <p:nvSpPr>
          <p:cNvPr id="4" name="Presenters"/>
          <p:cNvSpPr txBox="1"/>
          <p:nvPr/>
        </p:nvSpPr>
        <p:spPr>
          <a:xfrm>
            <a:off x="3200400" y="4572000"/>
            <a:ext cx="6949440" cy="457200"/>
          </a:xfrm>
          <a:prstGeom prst="rect">
            <a:avLst/>
          </a:prstGeom>
          <a:noFill/>
          <a:ln/>
        </p:spPr>
        <p:txBody>
          <a:bodyPr wrap="square" lIns="0" tIns="0" rIns="0" bIns="0" rtlCol="0" anchor="t"/>
          <a:lstStyle/>
          <a:p>
            <a:pPr marL="0" indent="0">
              <a:buNone/>
            </a:pPr>
            <a:r>
              <a:rPr lang="en-US" sz="2200" b="1" dirty="0">
                <a:solidFill>
                  <a:schemeClr val="accent1"/>
                </a:solidFill>
                <a:latin typeface="Calibri" pitchFamily="34" charset="0"/>
                <a:ea typeface="Calibri" pitchFamily="34" charset="-122"/>
                <a:cs typeface="Calibri" pitchFamily="34" charset="-120"/>
              </a:rPr>
              <a:t>Presented by Dakshesh Chauhan and Bhavya Tanna</a:t>
            </a:r>
            <a:endParaRPr lang="en-US" sz="2200" dirty="0"/>
          </a:p>
        </p:txBody>
      </p:sp>
      <p:sp>
        <p:nvSpPr>
          <p:cNvPr id="5" name="Course details"/>
          <p:cNvSpPr txBox="1"/>
          <p:nvPr/>
        </p:nvSpPr>
        <p:spPr>
          <a:xfrm>
            <a:off x="3200400" y="5120640"/>
            <a:ext cx="6400800" cy="685800"/>
          </a:xfrm>
          <a:prstGeom prst="rect">
            <a:avLst/>
          </a:prstGeom>
          <a:noFill/>
          <a:ln/>
        </p:spPr>
        <p:txBody>
          <a:bodyPr wrap="square" lIns="0" tIns="0" rIns="0" bIns="0" rtlCol="0" anchor="t"/>
          <a:lstStyle/>
          <a:p>
            <a:pPr marL="0" indent="0">
              <a:spcAft>
                <a:spcPts val="400"/>
              </a:spcAft>
              <a:buNone/>
            </a:pPr>
            <a:r>
              <a:rPr lang="en-US" sz="1600" dirty="0">
                <a:solidFill>
                  <a:schemeClr val="accent1"/>
                </a:solidFill>
                <a:latin typeface="Calibri" pitchFamily="34" charset="0"/>
                <a:ea typeface="Calibri" pitchFamily="34" charset="-122"/>
                <a:cs typeface="Calibri" pitchFamily="34" charset="-120"/>
              </a:rPr>
              <a:t>CA-3 Agentic AI Proof of Concept · SIT Pune</a:t>
            </a:r>
            <a:endParaRPr lang="en-US" sz="1600" dirty="0"/>
          </a:p>
          <a:p>
            <a:pPr marL="0" indent="0">
              <a:spcAft>
                <a:spcPts val="400"/>
              </a:spcAft>
              <a:buNone/>
            </a:pPr>
            <a:r>
              <a:rPr lang="en-US" sz="1600" dirty="0">
                <a:solidFill>
                  <a:schemeClr val="accent1"/>
                </a:solidFill>
                <a:latin typeface="Calibri" pitchFamily="34" charset="0"/>
                <a:ea typeface="Calibri" pitchFamily="34" charset="-122"/>
                <a:cs typeface="Calibri" pitchFamily="34" charset="-120"/>
              </a:rPr>
              <a:t>Subject faculty: Prof. Harshal Raut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2743200" y="868680"/>
            <a:ext cx="6675120" cy="822960"/>
          </a:xfrm>
          <a:prstGeom prst="rect">
            <a:avLst/>
          </a:prstGeom>
          <a:noFill/>
          <a:ln/>
        </p:spPr>
        <p:txBody>
          <a:bodyPr wrap="square" lIns="0" tIns="0" rIns="0" bIns="0" rtlCol="0" anchor="ctr"/>
          <a:lstStyle/>
          <a:p>
            <a:pPr marL="0" indent="0" algn="ctr">
              <a:buNone/>
            </a:pPr>
            <a:r>
              <a:rPr lang="en-US" sz="4000" b="1" dirty="0">
                <a:solidFill>
                  <a:schemeClr val="accent1"/>
                </a:solidFill>
                <a:latin typeface="Arial" pitchFamily="34" charset="0"/>
                <a:ea typeface="Arial" pitchFamily="34" charset="-122"/>
                <a:cs typeface="Arial" pitchFamily="34" charset="-120"/>
              </a:rPr>
              <a:t>PROBLEM STATEMENT</a:t>
            </a:r>
            <a:endParaRPr lang="en-US" sz="4000" dirty="0"/>
          </a:p>
        </p:txBody>
      </p:sp>
      <p:sp>
        <p:nvSpPr>
          <p:cNvPr id="3" name="Domain"/>
          <p:cNvSpPr txBox="1"/>
          <p:nvPr/>
        </p:nvSpPr>
        <p:spPr>
          <a:xfrm>
            <a:off x="2743200" y="1691640"/>
            <a:ext cx="6675120" cy="365760"/>
          </a:xfrm>
          <a:prstGeom prst="rect">
            <a:avLst/>
          </a:prstGeom>
          <a:noFill/>
          <a:ln/>
        </p:spPr>
        <p:txBody>
          <a:bodyPr wrap="square" lIns="0" tIns="0" rIns="0" bIns="0" rtlCol="0" anchor="t"/>
          <a:lstStyle/>
          <a:p>
            <a:pPr marL="0" indent="0" algn="ctr">
              <a:buNone/>
            </a:pPr>
            <a:r>
              <a:rPr lang="en-US" sz="1800" b="1" dirty="0">
                <a:solidFill>
                  <a:schemeClr val="accent1"/>
                </a:solidFill>
                <a:latin typeface="Calibri" pitchFamily="34" charset="0"/>
                <a:ea typeface="Calibri" pitchFamily="34" charset="-122"/>
                <a:cs typeface="Calibri" pitchFamily="34" charset="-120"/>
              </a:rPr>
              <a:t>Domain: Cybersecurity Operations (SOC)</a:t>
            </a:r>
            <a:endParaRPr lang="en-US" sz="1800" dirty="0"/>
          </a:p>
        </p:txBody>
      </p:sp>
      <p:sp>
        <p:nvSpPr>
          <p:cNvPr id="4" name="Problem text"/>
          <p:cNvSpPr txBox="1"/>
          <p:nvPr/>
        </p:nvSpPr>
        <p:spPr>
          <a:xfrm>
            <a:off x="3593592" y="2240280"/>
            <a:ext cx="5943600" cy="1508760"/>
          </a:xfrm>
          <a:prstGeom prst="rect">
            <a:avLst/>
          </a:prstGeom>
          <a:noFill/>
          <a:ln/>
        </p:spPr>
        <p:txBody>
          <a:bodyPr wrap="square" lIns="0" tIns="0" rIns="0" bIns="0" rtlCol="0" anchor="ctr"/>
          <a:lstStyle/>
          <a:p>
            <a:pPr marL="0" indent="0">
              <a:buNone/>
            </a:pPr>
            <a:r>
              <a:rPr lang="en-US" sz="1800" b="1" dirty="0">
                <a:solidFill>
                  <a:schemeClr val="accent1"/>
                </a:solidFill>
                <a:latin typeface="Calibri" pitchFamily="34" charset="0"/>
                <a:ea typeface="Calibri" pitchFamily="34" charset="-122"/>
                <a:cs typeface="Calibri" pitchFamily="34" charset="-120"/>
              </a:rPr>
              <a:t>Alert fatigue.</a:t>
            </a:r>
            <a:r>
              <a:rPr lang="en-US" sz="1800" dirty="0">
                <a:solidFill>
                  <a:schemeClr val="accent1"/>
                </a:solidFill>
                <a:latin typeface="Calibri" pitchFamily="34" charset="0"/>
                <a:ea typeface="Calibri" pitchFamily="34" charset="-122"/>
                <a:cs typeface="Calibri" pitchFamily="34" charset="-120"/>
              </a:rPr>
              <a:t> A Security Operations Centre gets far more alerts than analysts can read. Real attacks are spread across several alerts, hosts and minutes, so each one looks harmless alone and attacks are found late.</a:t>
            </a:r>
            <a:endParaRPr lang="en-US" sz="1800" dirty="0"/>
          </a:p>
        </p:txBody>
      </p:sp>
      <p:sp>
        <p:nvSpPr>
          <p:cNvPr id="5" name="Approach text"/>
          <p:cNvSpPr txBox="1"/>
          <p:nvPr/>
        </p:nvSpPr>
        <p:spPr>
          <a:xfrm>
            <a:off x="3657600" y="4297680"/>
            <a:ext cx="5943600" cy="1508760"/>
          </a:xfrm>
          <a:prstGeom prst="rect">
            <a:avLst/>
          </a:prstGeom>
          <a:noFill/>
          <a:ln/>
        </p:spPr>
        <p:txBody>
          <a:bodyPr wrap="square" lIns="0" tIns="0" rIns="0" bIns="0" rtlCol="0" anchor="ctr"/>
          <a:lstStyle/>
          <a:p>
            <a:pPr marL="0" indent="0">
              <a:buNone/>
            </a:pPr>
            <a:r>
              <a:rPr lang="en-US" sz="1800" b="1" dirty="0">
                <a:solidFill>
                  <a:schemeClr val="accent1"/>
                </a:solidFill>
                <a:latin typeface="Calibri" pitchFamily="34" charset="0"/>
                <a:ea typeface="Calibri" pitchFamily="34" charset="-122"/>
                <a:cs typeface="Calibri" pitchFamily="34" charset="-120"/>
              </a:rPr>
              <a:t>Why agents, not a chatbot.</a:t>
            </a:r>
            <a:r>
              <a:rPr lang="en-US" sz="1800" dirty="0">
                <a:solidFill>
                  <a:schemeClr val="accent1"/>
                </a:solidFill>
                <a:latin typeface="Calibri" pitchFamily="34" charset="0"/>
                <a:ea typeface="Calibri" pitchFamily="34" charset="-122"/>
                <a:cs typeface="Calibri" pitchFamily="34" charset="-120"/>
              </a:rPr>
              <a:t> Triage means grouping, enriching, correlating, scoring and writing rules. A chatbot cannot call tools, is not checked, and may invent indicators. We use six agents and a Critic that validates every result.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978408" y="1097280"/>
            <a:ext cx="7223760" cy="1097280"/>
          </a:xfrm>
          <a:prstGeom prst="rect">
            <a:avLst/>
          </a:prstGeom>
          <a:noFill/>
          <a:ln/>
        </p:spPr>
        <p:txBody>
          <a:bodyPr wrap="square" lIns="0" tIns="0" rIns="0" bIns="0" rtlCol="0" anchor="ctr"/>
          <a:lstStyle/>
          <a:p>
            <a:pPr marL="0" indent="0" algn="l">
              <a:buNone/>
            </a:pPr>
            <a:r>
              <a:rPr lang="en-US" sz="4400" b="1" dirty="0">
                <a:solidFill>
                  <a:schemeClr val="accent1"/>
                </a:solidFill>
                <a:latin typeface="Arial" pitchFamily="34" charset="0"/>
                <a:ea typeface="Arial" pitchFamily="34" charset="-122"/>
                <a:cs typeface="Arial" pitchFamily="34" charset="-120"/>
              </a:rPr>
              <a:t>PROJECT SCOPE</a:t>
            </a:r>
            <a:endParaRPr lang="en-US" sz="4400" dirty="0"/>
          </a:p>
        </p:txBody>
      </p:sp>
      <p:sp>
        <p:nvSpPr>
          <p:cNvPr id="3" name="Scope text"/>
          <p:cNvSpPr txBox="1"/>
          <p:nvPr/>
        </p:nvSpPr>
        <p:spPr>
          <a:xfrm>
            <a:off x="1325880" y="2697480"/>
            <a:ext cx="6583680" cy="2743200"/>
          </a:xfrm>
          <a:prstGeom prst="rect">
            <a:avLst/>
          </a:prstGeom>
          <a:noFill/>
          <a:ln/>
        </p:spPr>
        <p:txBody>
          <a:bodyPr wrap="square" lIns="0" tIns="0" rIns="0" bIns="0" rtlCol="0" anchor="ctr"/>
          <a:lstStyle/>
          <a:p>
            <a:pPr marL="0" indent="0">
              <a:spcAft>
                <a:spcPts val="500"/>
              </a:spcAft>
              <a:buNone/>
            </a:pPr>
            <a:r>
              <a:rPr lang="en-US" sz="1600" b="1" dirty="0">
                <a:solidFill>
                  <a:schemeClr val="bg1"/>
                </a:solidFill>
                <a:latin typeface="Calibri" pitchFamily="34" charset="0"/>
                <a:ea typeface="Calibri" pitchFamily="34" charset="-122"/>
                <a:cs typeface="Calibri" pitchFamily="34" charset="-120"/>
              </a:rPr>
              <a:t>Objectives</a:t>
            </a:r>
            <a:endParaRPr lang="en-US" sz="1600" dirty="0"/>
          </a:p>
          <a:p>
            <a:pPr marL="228600" indent="-228600">
              <a:spcAft>
                <a:spcPts val="500"/>
              </a:spcAft>
              <a:buSzPct val="100000"/>
              <a:buChar char="•"/>
            </a:pPr>
            <a:r>
              <a:rPr lang="en-US" sz="1600" dirty="0">
                <a:solidFill>
                  <a:schemeClr val="bg1"/>
                </a:solidFill>
                <a:latin typeface="Calibri" pitchFamily="34" charset="0"/>
                <a:ea typeface="Calibri" pitchFamily="34" charset="-122"/>
                <a:cs typeface="Calibri" pitchFamily="34" charset="-120"/>
              </a:rPr>
              <a:t>Show five agentic behaviours: task planning, tool execution, decision-making, validation and agent collaboration</a:t>
            </a:r>
            <a:endParaRPr lang="en-US" sz="1600" dirty="0"/>
          </a:p>
          <a:p>
            <a:pPr marL="228600" indent="-228600">
              <a:spcAft>
                <a:spcPts val="500"/>
              </a:spcAft>
              <a:buSzPct val="100000"/>
              <a:buChar char="•"/>
            </a:pPr>
            <a:r>
              <a:rPr lang="en-US" sz="1600" dirty="0">
                <a:solidFill>
                  <a:schemeClr val="bg1"/>
                </a:solidFill>
                <a:latin typeface="Calibri" pitchFamily="34" charset="0"/>
                <a:ea typeface="Calibri" pitchFamily="34" charset="-122"/>
                <a:cs typeface="Calibri" pitchFamily="34" charset="-120"/>
              </a:rPr>
              <a:t>Run free and local: Python, LangGraph and Ollama (llama3.2 3B), no paid API</a:t>
            </a:r>
            <a:endParaRPr lang="en-US" sz="1600" dirty="0"/>
          </a:p>
          <a:p>
            <a:pPr marL="228600" indent="-228600">
              <a:spcAft>
                <a:spcPts val="500"/>
              </a:spcAft>
              <a:buSzPct val="100000"/>
              <a:buChar char="•"/>
            </a:pPr>
            <a:r>
              <a:rPr lang="en-US" sz="1600" dirty="0">
                <a:solidFill>
                  <a:schemeClr val="bg1"/>
                </a:solidFill>
                <a:latin typeface="Calibri" pitchFamily="34" charset="0"/>
                <a:ea typeface="Calibri" pitchFamily="34" charset="-122"/>
                <a:cs typeface="Calibri" pitchFamily="34" charset="-120"/>
              </a:rPr>
              <a:t>Keep a human in the loop and measure results against ground truth</a:t>
            </a:r>
            <a:endParaRPr lang="en-US" sz="1600" dirty="0"/>
          </a:p>
          <a:p>
            <a:pPr marL="0" indent="0">
              <a:spcAft>
                <a:spcPts val="500"/>
              </a:spcAft>
              <a:buNone/>
            </a:pPr>
            <a:r>
              <a:rPr lang="en-US" sz="1600" b="1" dirty="0">
                <a:solidFill>
                  <a:schemeClr val="bg1"/>
                </a:solidFill>
                <a:latin typeface="Calibri" pitchFamily="34" charset="0"/>
                <a:ea typeface="Calibri" pitchFamily="34" charset="-122"/>
                <a:cs typeface="Calibri" pitchFamily="34" charset="-120"/>
              </a:rPr>
              <a:t>In scope:</a:t>
            </a:r>
            <a:r>
              <a:rPr lang="en-US" sz="1600" dirty="0">
                <a:solidFill>
                  <a:schemeClr val="bg1"/>
                </a:solidFill>
                <a:latin typeface="Calibri" pitchFamily="34" charset="0"/>
                <a:ea typeface="Calibri" pitchFamily="34" charset="-122"/>
                <a:cs typeface="Calibri" pitchFamily="34" charset="-120"/>
              </a:rPr>
              <a:t> synthetic alerts, a Windows Security and Sysmon sample, mock integrations, a local web console</a:t>
            </a:r>
            <a:endParaRPr lang="en-US" sz="1600" dirty="0"/>
          </a:p>
          <a:p>
            <a:pPr marL="0" indent="0">
              <a:spcAft>
                <a:spcPts val="500"/>
              </a:spcAft>
              <a:buNone/>
            </a:pPr>
            <a:r>
              <a:rPr lang="en-US" sz="1600" b="1" dirty="0">
                <a:solidFill>
                  <a:schemeClr val="bg1"/>
                </a:solidFill>
                <a:latin typeface="Calibri" pitchFamily="34" charset="0"/>
                <a:ea typeface="Calibri" pitchFamily="34" charset="-122"/>
                <a:cs typeface="Calibri" pitchFamily="34" charset="-120"/>
              </a:rPr>
              <a:t>Out of scope:</a:t>
            </a:r>
            <a:r>
              <a:rPr lang="en-US" sz="1600" dirty="0">
                <a:solidFill>
                  <a:schemeClr val="bg1"/>
                </a:solidFill>
                <a:latin typeface="Calibri" pitchFamily="34" charset="0"/>
                <a:ea typeface="Calibri" pitchFamily="34" charset="-122"/>
                <a:cs typeface="Calibri" pitchFamily="34" charset="-120"/>
              </a:rPr>
              <a:t> real SIEM, real threat-intel feeds, real containment actions, deployment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543800" y="822960"/>
            <a:ext cx="4297680" cy="1463040"/>
          </a:xfrm>
          <a:prstGeom prst="rect">
            <a:avLst/>
          </a:prstGeom>
          <a:noFill/>
          <a:ln/>
        </p:spPr>
        <p:txBody>
          <a:bodyPr wrap="square" lIns="0" tIns="0" rIns="0" bIns="0" rtlCol="0" anchor="t"/>
          <a:lstStyle/>
          <a:p>
            <a:pPr marL="0" indent="0" algn="l">
              <a:buNone/>
            </a:pPr>
            <a:r>
              <a:rPr lang="en-US" sz="3600" b="1" dirty="0">
                <a:solidFill>
                  <a:schemeClr val="bg1"/>
                </a:solidFill>
                <a:latin typeface="Arial" pitchFamily="34" charset="0"/>
                <a:ea typeface="Arial" pitchFamily="34" charset="-122"/>
                <a:cs typeface="Arial" pitchFamily="34" charset="-120"/>
              </a:rPr>
              <a:t>SYSTEM ARCHITECTURE</a:t>
            </a:r>
            <a:endParaRPr lang="en-US" sz="3600" dirty="0"/>
          </a:p>
        </p:txBody>
      </p:sp>
      <p:sp>
        <p:nvSpPr>
          <p:cNvPr id="3" name="Diagram panel"/>
          <p:cNvSpPr/>
          <p:nvPr/>
        </p:nvSpPr>
        <p:spPr>
          <a:xfrm>
            <a:off x="411480" y="502920"/>
            <a:ext cx="6812280" cy="5852160"/>
          </a:xfrm>
          <a:prstGeom prst="roundRect">
            <a:avLst>
              <a:gd name="adj" fmla="val 2344"/>
            </a:avLst>
          </a:prstGeom>
          <a:solidFill>
            <a:schemeClr val="bg1"/>
          </a:solidFill>
          <a:ln/>
        </p:spPr>
      </p:sp>
      <p:pic>
        <p:nvPicPr>
          <p:cNvPr id="4" name="Architecture diagram" descr="Architecture diagram: six agents inside a LangGraph orchestration layer with the severity router, Critic feedback loops, local LLM, analyst approval and analyst memory"/>
          <p:cNvPicPr>
            <a:picLocks noChangeAspect="1"/>
          </p:cNvPicPr>
          <p:nvPr/>
        </p:nvPicPr>
        <p:blipFill>
          <a:blip r:embed="rId3"/>
          <a:stretch>
            <a:fillRect/>
          </a:stretch>
        </p:blipFill>
        <p:spPr>
          <a:xfrm>
            <a:off x="502920" y="594360"/>
            <a:ext cx="6629400" cy="5669280"/>
          </a:xfrm>
          <a:prstGeom prst="rect">
            <a:avLst/>
          </a:prstGeom>
        </p:spPr>
      </p:pic>
      <p:sp>
        <p:nvSpPr>
          <p:cNvPr id="5" name="Architecture points"/>
          <p:cNvSpPr txBox="1"/>
          <p:nvPr/>
        </p:nvSpPr>
        <p:spPr>
          <a:xfrm>
            <a:off x="7863840" y="2743200"/>
            <a:ext cx="3931920" cy="338328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chemeClr val="bg1"/>
                </a:solidFill>
                <a:latin typeface="Calibri" pitchFamily="34" charset="0"/>
                <a:ea typeface="Calibri" pitchFamily="34" charset="-122"/>
                <a:cs typeface="Calibri" pitchFamily="34" charset="-120"/>
              </a:rPr>
              <a:t>One LangGraph state graph runs all six agents over one shared state</a:t>
            </a:r>
            <a:endParaRPr lang="en-US" sz="1700" dirty="0"/>
          </a:p>
          <a:p>
            <a:pPr marL="228600" indent="-228600">
              <a:spcAft>
                <a:spcPts val="1000"/>
              </a:spcAft>
              <a:buSzPct val="100000"/>
              <a:buChar char="•"/>
            </a:pPr>
            <a:r>
              <a:rPr lang="en-US" sz="1700" dirty="0">
                <a:solidFill>
                  <a:schemeClr val="bg1"/>
                </a:solidFill>
                <a:latin typeface="Calibri" pitchFamily="34" charset="0"/>
                <a:ea typeface="Calibri" pitchFamily="34" charset="-122"/>
                <a:cs typeface="Calibri" pitchFamily="34" charset="-120"/>
              </a:rPr>
              <a:t>A local LLM plans and writes prose; Python decides every score and route</a:t>
            </a:r>
            <a:endParaRPr lang="en-US" sz="1700" dirty="0"/>
          </a:p>
          <a:p>
            <a:pPr marL="228600" indent="-228600">
              <a:spcAft>
                <a:spcPts val="1000"/>
              </a:spcAft>
              <a:buSzPct val="100000"/>
              <a:buChar char="•"/>
            </a:pPr>
            <a:r>
              <a:rPr lang="en-US" sz="1700" dirty="0">
                <a:solidFill>
                  <a:schemeClr val="bg1"/>
                </a:solidFill>
                <a:latin typeface="Calibri" pitchFamily="34" charset="0"/>
                <a:ea typeface="Calibri" pitchFamily="34" charset="-122"/>
                <a:cs typeface="Calibri" pitchFamily="34" charset="-120"/>
              </a:rPr>
              <a:t>Two Critic checkpoints send faulty work back, up to 2 retries</a:t>
            </a:r>
            <a:endParaRPr lang="en-US" sz="1700" dirty="0"/>
          </a:p>
          <a:p>
            <a:pPr marL="228600" indent="-228600">
              <a:spcAft>
                <a:spcPts val="1000"/>
              </a:spcAft>
              <a:buSzPct val="100000"/>
              <a:buChar char="•"/>
            </a:pPr>
            <a:r>
              <a:rPr lang="en-US" sz="1700" dirty="0">
                <a:solidFill>
                  <a:schemeClr val="bg1"/>
                </a:solidFill>
                <a:latin typeface="Calibri" pitchFamily="34" charset="0"/>
                <a:ea typeface="Calibri" pitchFamily="34" charset="-122"/>
                <a:cs typeface="Calibri" pitchFamily="34" charset="-120"/>
              </a:rPr>
              <a:t>An analyst approves containment before any action</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749040" y="868680"/>
            <a:ext cx="7863840" cy="914400"/>
          </a:xfrm>
          <a:prstGeom prst="rect">
            <a:avLst/>
          </a:prstGeom>
          <a:noFill/>
          <a:ln/>
        </p:spPr>
        <p:txBody>
          <a:bodyPr wrap="square" lIns="0" tIns="0" rIns="0" bIns="0" rtlCol="0" anchor="ctr"/>
          <a:lstStyle/>
          <a:p>
            <a:pPr marL="0" indent="0" algn="l">
              <a:buNone/>
            </a:pPr>
            <a:r>
              <a:rPr lang="en-US" sz="4400" b="1" dirty="0">
                <a:solidFill>
                  <a:schemeClr val="accent1"/>
                </a:solidFill>
                <a:latin typeface="Arial" pitchFamily="34" charset="0"/>
                <a:ea typeface="Arial" pitchFamily="34" charset="-122"/>
                <a:cs typeface="Arial" pitchFamily="34" charset="-120"/>
              </a:rPr>
              <a:t>THE SIX AGENTS</a:t>
            </a:r>
            <a:endParaRPr lang="en-US" sz="4400" dirty="0"/>
          </a:p>
        </p:txBody>
      </p:sp>
      <p:sp>
        <p:nvSpPr>
          <p:cNvPr id="3" name="Card Planner"/>
          <p:cNvSpPr/>
          <p:nvPr/>
        </p:nvSpPr>
        <p:spPr>
          <a:xfrm>
            <a:off x="3749040" y="2011680"/>
            <a:ext cx="3886200" cy="1280160"/>
          </a:xfrm>
          <a:prstGeom prst="roundRect">
            <a:avLst>
              <a:gd name="adj" fmla="val 8571"/>
            </a:avLst>
          </a:prstGeom>
          <a:solidFill>
            <a:schemeClr val="bg2"/>
          </a:solidFill>
          <a:ln/>
        </p:spPr>
      </p:sp>
      <p:sp>
        <p:nvSpPr>
          <p:cNvPr id="4" name="Badge 1"/>
          <p:cNvSpPr/>
          <p:nvPr/>
        </p:nvSpPr>
        <p:spPr>
          <a:xfrm>
            <a:off x="3931920" y="2377440"/>
            <a:ext cx="548640" cy="548640"/>
          </a:xfrm>
          <a:prstGeom prst="ellipse">
            <a:avLst/>
          </a:prstGeom>
          <a:solidFill>
            <a:schemeClr val="accent1"/>
          </a:solidFill>
          <a:ln/>
        </p:spPr>
      </p:sp>
      <p:sp>
        <p:nvSpPr>
          <p:cNvPr id="5" name="Number 1"/>
          <p:cNvSpPr txBox="1"/>
          <p:nvPr/>
        </p:nvSpPr>
        <p:spPr>
          <a:xfrm>
            <a:off x="3931920" y="237744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latin typeface="Arial" pitchFamily="34" charset="0"/>
                <a:ea typeface="Arial" pitchFamily="34" charset="-122"/>
                <a:cs typeface="Arial" pitchFamily="34" charset="-120"/>
              </a:rPr>
              <a:t>1</a:t>
            </a:r>
            <a:endParaRPr lang="en-US" sz="2000" dirty="0"/>
          </a:p>
        </p:txBody>
      </p:sp>
      <p:sp>
        <p:nvSpPr>
          <p:cNvPr id="6" name="Text Planner"/>
          <p:cNvSpPr txBox="1"/>
          <p:nvPr/>
        </p:nvSpPr>
        <p:spPr>
          <a:xfrm>
            <a:off x="4617720" y="2103120"/>
            <a:ext cx="2880360" cy="1097280"/>
          </a:xfrm>
          <a:prstGeom prst="rect">
            <a:avLst/>
          </a:prstGeom>
          <a:noFill/>
          <a:ln/>
        </p:spPr>
        <p:txBody>
          <a:bodyPr wrap="square" lIns="0" tIns="0" rIns="0" bIns="0" rtlCol="0" anchor="ctr"/>
          <a:lstStyle/>
          <a:p>
            <a:pPr marL="0" indent="0">
              <a:spcAft>
                <a:spcPts val="300"/>
              </a:spcAft>
              <a:buNone/>
            </a:pPr>
            <a:r>
              <a:rPr lang="en-US" sz="1700" b="1" dirty="0">
                <a:solidFill>
                  <a:schemeClr val="accent1"/>
                </a:solidFill>
                <a:latin typeface="Arial" pitchFamily="34" charset="0"/>
                <a:ea typeface="Arial" pitchFamily="34" charset="-122"/>
                <a:cs typeface="Arial" pitchFamily="34" charset="-120"/>
              </a:rPr>
              <a:t>Planner</a:t>
            </a:r>
            <a:endParaRPr lang="en-US" sz="1700" dirty="0"/>
          </a:p>
          <a:p>
            <a:pPr marL="0" indent="0">
              <a:buNone/>
            </a:pPr>
            <a:r>
              <a:rPr lang="en-US" sz="1400" dirty="0">
                <a:solidFill>
                  <a:schemeClr val="tx1"/>
                </a:solidFill>
                <a:latin typeface="Calibri" pitchFamily="34" charset="0"/>
                <a:ea typeface="Calibri" pitchFamily="34" charset="-122"/>
                <a:cs typeface="Calibri" pitchFamily="34" charset="-120"/>
              </a:rPr>
              <a:t>Groups alerts by host and time into candidate incidents</a:t>
            </a:r>
            <a:endParaRPr lang="en-US" sz="1700" dirty="0"/>
          </a:p>
        </p:txBody>
      </p:sp>
      <p:sp>
        <p:nvSpPr>
          <p:cNvPr id="7" name="Card Research"/>
          <p:cNvSpPr/>
          <p:nvPr/>
        </p:nvSpPr>
        <p:spPr>
          <a:xfrm>
            <a:off x="7909560" y="2011680"/>
            <a:ext cx="3886200" cy="1280160"/>
          </a:xfrm>
          <a:prstGeom prst="roundRect">
            <a:avLst>
              <a:gd name="adj" fmla="val 8571"/>
            </a:avLst>
          </a:prstGeom>
          <a:solidFill>
            <a:schemeClr val="bg2"/>
          </a:solidFill>
          <a:ln/>
        </p:spPr>
      </p:sp>
      <p:sp>
        <p:nvSpPr>
          <p:cNvPr id="8" name="Badge 2"/>
          <p:cNvSpPr/>
          <p:nvPr/>
        </p:nvSpPr>
        <p:spPr>
          <a:xfrm>
            <a:off x="8092440" y="2377440"/>
            <a:ext cx="548640" cy="548640"/>
          </a:xfrm>
          <a:prstGeom prst="ellipse">
            <a:avLst/>
          </a:prstGeom>
          <a:solidFill>
            <a:schemeClr val="accent1"/>
          </a:solidFill>
          <a:ln/>
        </p:spPr>
      </p:sp>
      <p:sp>
        <p:nvSpPr>
          <p:cNvPr id="9" name="Number 2"/>
          <p:cNvSpPr txBox="1"/>
          <p:nvPr/>
        </p:nvSpPr>
        <p:spPr>
          <a:xfrm>
            <a:off x="8092440" y="237744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latin typeface="Arial" pitchFamily="34" charset="0"/>
                <a:ea typeface="Arial" pitchFamily="34" charset="-122"/>
                <a:cs typeface="Arial" pitchFamily="34" charset="-120"/>
              </a:rPr>
              <a:t>2</a:t>
            </a:r>
            <a:endParaRPr lang="en-US" sz="2000" dirty="0"/>
          </a:p>
        </p:txBody>
      </p:sp>
      <p:sp>
        <p:nvSpPr>
          <p:cNvPr id="10" name="Text Research"/>
          <p:cNvSpPr txBox="1"/>
          <p:nvPr/>
        </p:nvSpPr>
        <p:spPr>
          <a:xfrm>
            <a:off x="8778240" y="2103120"/>
            <a:ext cx="2880360" cy="1097280"/>
          </a:xfrm>
          <a:prstGeom prst="rect">
            <a:avLst/>
          </a:prstGeom>
          <a:noFill/>
          <a:ln/>
        </p:spPr>
        <p:txBody>
          <a:bodyPr wrap="square" lIns="0" tIns="0" rIns="0" bIns="0" rtlCol="0" anchor="ctr"/>
          <a:lstStyle/>
          <a:p>
            <a:pPr marL="0" indent="0">
              <a:spcAft>
                <a:spcPts val="300"/>
              </a:spcAft>
              <a:buNone/>
            </a:pPr>
            <a:r>
              <a:rPr lang="en-US" sz="1700" b="1" dirty="0">
                <a:solidFill>
                  <a:schemeClr val="accent1"/>
                </a:solidFill>
                <a:latin typeface="Arial" pitchFamily="34" charset="0"/>
                <a:ea typeface="Arial" pitchFamily="34" charset="-122"/>
                <a:cs typeface="Arial" pitchFamily="34" charset="-120"/>
              </a:rPr>
              <a:t>Research</a:t>
            </a:r>
            <a:endParaRPr lang="en-US" sz="1700" dirty="0"/>
          </a:p>
          <a:p>
            <a:pPr marL="0" indent="0">
              <a:buNone/>
            </a:pPr>
            <a:r>
              <a:rPr lang="en-US" sz="1400" dirty="0">
                <a:solidFill>
                  <a:schemeClr val="tx1"/>
                </a:solidFill>
                <a:latin typeface="Calibri" pitchFamily="34" charset="0"/>
                <a:ea typeface="Calibri" pitchFamily="34" charset="-122"/>
                <a:cs typeface="Calibri" pitchFamily="34" charset="-120"/>
              </a:rPr>
              <a:t>Threat-intel, asset and user lookups, planned by the LLM and validated by Python</a:t>
            </a:r>
            <a:endParaRPr lang="en-US" sz="1700" dirty="0"/>
          </a:p>
        </p:txBody>
      </p:sp>
      <p:sp>
        <p:nvSpPr>
          <p:cNvPr id="11" name="Card Executor"/>
          <p:cNvSpPr/>
          <p:nvPr/>
        </p:nvSpPr>
        <p:spPr>
          <a:xfrm>
            <a:off x="3749040" y="3429000"/>
            <a:ext cx="3886200" cy="1280160"/>
          </a:xfrm>
          <a:prstGeom prst="roundRect">
            <a:avLst>
              <a:gd name="adj" fmla="val 8571"/>
            </a:avLst>
          </a:prstGeom>
          <a:solidFill>
            <a:schemeClr val="bg2"/>
          </a:solidFill>
          <a:ln/>
        </p:spPr>
      </p:sp>
      <p:sp>
        <p:nvSpPr>
          <p:cNvPr id="12" name="Badge 3"/>
          <p:cNvSpPr/>
          <p:nvPr/>
        </p:nvSpPr>
        <p:spPr>
          <a:xfrm>
            <a:off x="3931920" y="3794760"/>
            <a:ext cx="548640" cy="548640"/>
          </a:xfrm>
          <a:prstGeom prst="ellipse">
            <a:avLst/>
          </a:prstGeom>
          <a:solidFill>
            <a:schemeClr val="accent1"/>
          </a:solidFill>
          <a:ln/>
        </p:spPr>
      </p:sp>
      <p:sp>
        <p:nvSpPr>
          <p:cNvPr id="13" name="Number 3"/>
          <p:cNvSpPr txBox="1"/>
          <p:nvPr/>
        </p:nvSpPr>
        <p:spPr>
          <a:xfrm>
            <a:off x="3931920" y="379476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latin typeface="Arial" pitchFamily="34" charset="0"/>
                <a:ea typeface="Arial" pitchFamily="34" charset="-122"/>
                <a:cs typeface="Arial" pitchFamily="34" charset="-120"/>
              </a:rPr>
              <a:t>3</a:t>
            </a:r>
            <a:endParaRPr lang="en-US" sz="2000" dirty="0"/>
          </a:p>
        </p:txBody>
      </p:sp>
      <p:sp>
        <p:nvSpPr>
          <p:cNvPr id="14" name="Text Executor"/>
          <p:cNvSpPr txBox="1"/>
          <p:nvPr/>
        </p:nvSpPr>
        <p:spPr>
          <a:xfrm>
            <a:off x="4617720" y="3520440"/>
            <a:ext cx="2880360" cy="1097280"/>
          </a:xfrm>
          <a:prstGeom prst="rect">
            <a:avLst/>
          </a:prstGeom>
          <a:noFill/>
          <a:ln/>
        </p:spPr>
        <p:txBody>
          <a:bodyPr wrap="square" lIns="0" tIns="0" rIns="0" bIns="0" rtlCol="0" anchor="ctr"/>
          <a:lstStyle/>
          <a:p>
            <a:pPr marL="0" indent="0">
              <a:spcAft>
                <a:spcPts val="300"/>
              </a:spcAft>
              <a:buNone/>
            </a:pPr>
            <a:r>
              <a:rPr lang="en-US" sz="1700" b="1" dirty="0">
                <a:solidFill>
                  <a:schemeClr val="accent1"/>
                </a:solidFill>
                <a:latin typeface="Arial" pitchFamily="34" charset="0"/>
                <a:ea typeface="Arial" pitchFamily="34" charset="-122"/>
                <a:cs typeface="Arial" pitchFamily="34" charset="-120"/>
              </a:rPr>
              <a:t>Executor</a:t>
            </a:r>
            <a:endParaRPr lang="en-US" sz="1700" dirty="0"/>
          </a:p>
          <a:p>
            <a:pPr marL="0" indent="0">
              <a:buNone/>
            </a:pPr>
            <a:r>
              <a:rPr lang="en-US" sz="1400" dirty="0">
                <a:solidFill>
                  <a:schemeClr val="tx1"/>
                </a:solidFill>
                <a:latin typeface="Calibri" pitchFamily="34" charset="0"/>
                <a:ea typeface="Calibri" pitchFamily="34" charset="-122"/>
                <a:cs typeface="Calibri" pitchFamily="34" charset="-120"/>
              </a:rPr>
              <a:t>Correlates kill-chain stages and scores severity from 0 to 100</a:t>
            </a:r>
            <a:endParaRPr lang="en-US" sz="1700" dirty="0"/>
          </a:p>
        </p:txBody>
      </p:sp>
      <p:sp>
        <p:nvSpPr>
          <p:cNvPr id="15" name="Card Critic"/>
          <p:cNvSpPr/>
          <p:nvPr/>
        </p:nvSpPr>
        <p:spPr>
          <a:xfrm>
            <a:off x="7909560" y="3429000"/>
            <a:ext cx="3886200" cy="1280160"/>
          </a:xfrm>
          <a:prstGeom prst="roundRect">
            <a:avLst>
              <a:gd name="adj" fmla="val 8571"/>
            </a:avLst>
          </a:prstGeom>
          <a:solidFill>
            <a:schemeClr val="accent1"/>
          </a:solidFill>
          <a:ln/>
        </p:spPr>
      </p:sp>
      <p:sp>
        <p:nvSpPr>
          <p:cNvPr id="16" name="Badge 4"/>
          <p:cNvSpPr/>
          <p:nvPr/>
        </p:nvSpPr>
        <p:spPr>
          <a:xfrm>
            <a:off x="8092440" y="3794760"/>
            <a:ext cx="548640" cy="548640"/>
          </a:xfrm>
          <a:prstGeom prst="ellipse">
            <a:avLst/>
          </a:prstGeom>
          <a:solidFill>
            <a:schemeClr val="bg1"/>
          </a:solidFill>
          <a:ln/>
        </p:spPr>
      </p:sp>
      <p:sp>
        <p:nvSpPr>
          <p:cNvPr id="17" name="Number 4"/>
          <p:cNvSpPr txBox="1"/>
          <p:nvPr/>
        </p:nvSpPr>
        <p:spPr>
          <a:xfrm>
            <a:off x="8092440" y="3794760"/>
            <a:ext cx="548640" cy="548640"/>
          </a:xfrm>
          <a:prstGeom prst="rect">
            <a:avLst/>
          </a:prstGeom>
          <a:noFill/>
          <a:ln/>
        </p:spPr>
        <p:txBody>
          <a:bodyPr wrap="square" lIns="0" tIns="0" rIns="0" bIns="0" rtlCol="0" anchor="ctr"/>
          <a:lstStyle/>
          <a:p>
            <a:pPr marL="0" indent="0" algn="ctr">
              <a:buNone/>
            </a:pPr>
            <a:r>
              <a:rPr lang="en-US" sz="2000" b="1" dirty="0">
                <a:solidFill>
                  <a:schemeClr val="accent1"/>
                </a:solidFill>
                <a:latin typeface="Arial" pitchFamily="34" charset="0"/>
                <a:ea typeface="Arial" pitchFamily="34" charset="-122"/>
                <a:cs typeface="Arial" pitchFamily="34" charset="-120"/>
              </a:rPr>
              <a:t>4</a:t>
            </a:r>
            <a:endParaRPr lang="en-US" sz="2000" dirty="0"/>
          </a:p>
        </p:txBody>
      </p:sp>
      <p:sp>
        <p:nvSpPr>
          <p:cNvPr id="18" name="Text Critic"/>
          <p:cNvSpPr txBox="1"/>
          <p:nvPr/>
        </p:nvSpPr>
        <p:spPr>
          <a:xfrm>
            <a:off x="8778240" y="3520440"/>
            <a:ext cx="2880360" cy="1097280"/>
          </a:xfrm>
          <a:prstGeom prst="rect">
            <a:avLst/>
          </a:prstGeom>
          <a:noFill/>
          <a:ln/>
        </p:spPr>
        <p:txBody>
          <a:bodyPr wrap="square" lIns="0" tIns="0" rIns="0" bIns="0" rtlCol="0" anchor="ctr"/>
          <a:lstStyle/>
          <a:p>
            <a:pPr marL="0" indent="0">
              <a:spcAft>
                <a:spcPts val="300"/>
              </a:spcAft>
              <a:buNone/>
            </a:pPr>
            <a:r>
              <a:rPr lang="en-US" sz="1700" b="1" dirty="0">
                <a:solidFill>
                  <a:schemeClr val="bg1"/>
                </a:solidFill>
                <a:latin typeface="Arial" pitchFamily="34" charset="0"/>
                <a:ea typeface="Arial" pitchFamily="34" charset="-122"/>
                <a:cs typeface="Arial" pitchFamily="34" charset="-120"/>
              </a:rPr>
              <a:t>Critic</a:t>
            </a:r>
            <a:endParaRPr lang="en-US" sz="1700" dirty="0"/>
          </a:p>
          <a:p>
            <a:pPr marL="0" indent="0">
              <a:buNone/>
            </a:pPr>
            <a:r>
              <a:rPr lang="en-US" sz="1400" dirty="0">
                <a:solidFill>
                  <a:schemeClr val="bg1"/>
                </a:solidFill>
                <a:latin typeface="Calibri" pitchFamily="34" charset="0"/>
                <a:ea typeface="Calibri" pitchFamily="34" charset="-122"/>
                <a:cs typeface="Calibri" pitchFamily="34" charset="-120"/>
              </a:rPr>
              <a:t>Re-checks evidence, score, rule and playbook; sends work back</a:t>
            </a:r>
            <a:endParaRPr lang="en-US" sz="1700" dirty="0"/>
          </a:p>
        </p:txBody>
      </p:sp>
      <p:sp>
        <p:nvSpPr>
          <p:cNvPr id="19" name="Card Software Development"/>
          <p:cNvSpPr/>
          <p:nvPr/>
        </p:nvSpPr>
        <p:spPr>
          <a:xfrm>
            <a:off x="3749040" y="4846320"/>
            <a:ext cx="3886200" cy="1280160"/>
          </a:xfrm>
          <a:prstGeom prst="roundRect">
            <a:avLst>
              <a:gd name="adj" fmla="val 8571"/>
            </a:avLst>
          </a:prstGeom>
          <a:solidFill>
            <a:schemeClr val="bg2"/>
          </a:solidFill>
          <a:ln/>
        </p:spPr>
      </p:sp>
      <p:sp>
        <p:nvSpPr>
          <p:cNvPr id="20" name="Badge 5"/>
          <p:cNvSpPr/>
          <p:nvPr/>
        </p:nvSpPr>
        <p:spPr>
          <a:xfrm>
            <a:off x="3931920" y="5212080"/>
            <a:ext cx="548640" cy="548640"/>
          </a:xfrm>
          <a:prstGeom prst="ellipse">
            <a:avLst/>
          </a:prstGeom>
          <a:solidFill>
            <a:schemeClr val="accent1"/>
          </a:solidFill>
          <a:ln/>
        </p:spPr>
      </p:sp>
      <p:sp>
        <p:nvSpPr>
          <p:cNvPr id="21" name="Number 5"/>
          <p:cNvSpPr txBox="1"/>
          <p:nvPr/>
        </p:nvSpPr>
        <p:spPr>
          <a:xfrm>
            <a:off x="3931920" y="521208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latin typeface="Arial" pitchFamily="34" charset="0"/>
                <a:ea typeface="Arial" pitchFamily="34" charset="-122"/>
                <a:cs typeface="Arial" pitchFamily="34" charset="-120"/>
              </a:rPr>
              <a:t>5</a:t>
            </a:r>
            <a:endParaRPr lang="en-US" sz="2000" dirty="0"/>
          </a:p>
        </p:txBody>
      </p:sp>
      <p:sp>
        <p:nvSpPr>
          <p:cNvPr id="22" name="Text Software Development"/>
          <p:cNvSpPr txBox="1"/>
          <p:nvPr/>
        </p:nvSpPr>
        <p:spPr>
          <a:xfrm>
            <a:off x="4617720" y="4937760"/>
            <a:ext cx="2880360" cy="1097280"/>
          </a:xfrm>
          <a:prstGeom prst="rect">
            <a:avLst/>
          </a:prstGeom>
          <a:noFill/>
          <a:ln/>
        </p:spPr>
        <p:txBody>
          <a:bodyPr wrap="square" lIns="0" tIns="0" rIns="0" bIns="0" rtlCol="0" anchor="ctr"/>
          <a:lstStyle/>
          <a:p>
            <a:pPr marL="0" indent="0">
              <a:spcAft>
                <a:spcPts val="300"/>
              </a:spcAft>
              <a:buNone/>
            </a:pPr>
            <a:r>
              <a:rPr lang="en-US" sz="1700" b="1" dirty="0">
                <a:solidFill>
                  <a:schemeClr val="accent1"/>
                </a:solidFill>
                <a:latin typeface="Arial" pitchFamily="34" charset="0"/>
                <a:ea typeface="Arial" pitchFamily="34" charset="-122"/>
                <a:cs typeface="Arial" pitchFamily="34" charset="-120"/>
              </a:rPr>
              <a:t>Software Development</a:t>
            </a:r>
            <a:endParaRPr lang="en-US" sz="1700" dirty="0"/>
          </a:p>
          <a:p>
            <a:pPr marL="0" indent="0">
              <a:buNone/>
            </a:pPr>
            <a:r>
              <a:rPr lang="en-US" sz="1400" dirty="0">
                <a:solidFill>
                  <a:schemeClr val="tx1"/>
                </a:solidFill>
                <a:latin typeface="Calibri" pitchFamily="34" charset="0"/>
                <a:ea typeface="Calibri" pitchFamily="34" charset="-122"/>
                <a:cs typeface="Calibri" pitchFamily="34" charset="-120"/>
              </a:rPr>
              <a:t>Writes the playbook, detection rule, unit test and Sigma export</a:t>
            </a:r>
            <a:endParaRPr lang="en-US" sz="1700" dirty="0"/>
          </a:p>
        </p:txBody>
      </p:sp>
      <p:sp>
        <p:nvSpPr>
          <p:cNvPr id="23" name="Card Business Automation"/>
          <p:cNvSpPr/>
          <p:nvPr/>
        </p:nvSpPr>
        <p:spPr>
          <a:xfrm>
            <a:off x="7909560" y="4846320"/>
            <a:ext cx="3886200" cy="1280160"/>
          </a:xfrm>
          <a:prstGeom prst="roundRect">
            <a:avLst>
              <a:gd name="adj" fmla="val 8571"/>
            </a:avLst>
          </a:prstGeom>
          <a:solidFill>
            <a:schemeClr val="bg2"/>
          </a:solidFill>
          <a:ln/>
        </p:spPr>
      </p:sp>
      <p:sp>
        <p:nvSpPr>
          <p:cNvPr id="24" name="Badge 6"/>
          <p:cNvSpPr/>
          <p:nvPr/>
        </p:nvSpPr>
        <p:spPr>
          <a:xfrm>
            <a:off x="8092440" y="5212080"/>
            <a:ext cx="548640" cy="548640"/>
          </a:xfrm>
          <a:prstGeom prst="ellipse">
            <a:avLst/>
          </a:prstGeom>
          <a:solidFill>
            <a:schemeClr val="accent1"/>
          </a:solidFill>
          <a:ln/>
        </p:spPr>
      </p:sp>
      <p:sp>
        <p:nvSpPr>
          <p:cNvPr id="25" name="Number 6"/>
          <p:cNvSpPr txBox="1"/>
          <p:nvPr/>
        </p:nvSpPr>
        <p:spPr>
          <a:xfrm>
            <a:off x="8092440" y="521208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latin typeface="Arial" pitchFamily="34" charset="0"/>
                <a:ea typeface="Arial" pitchFamily="34" charset="-122"/>
                <a:cs typeface="Arial" pitchFamily="34" charset="-120"/>
              </a:rPr>
              <a:t>6</a:t>
            </a:r>
            <a:endParaRPr lang="en-US" sz="2000" dirty="0"/>
          </a:p>
        </p:txBody>
      </p:sp>
      <p:sp>
        <p:nvSpPr>
          <p:cNvPr id="26" name="Text Business Automation"/>
          <p:cNvSpPr txBox="1"/>
          <p:nvPr/>
        </p:nvSpPr>
        <p:spPr>
          <a:xfrm>
            <a:off x="8778240" y="4937760"/>
            <a:ext cx="2880360" cy="1097280"/>
          </a:xfrm>
          <a:prstGeom prst="rect">
            <a:avLst/>
          </a:prstGeom>
          <a:noFill/>
          <a:ln/>
        </p:spPr>
        <p:txBody>
          <a:bodyPr wrap="square" lIns="0" tIns="0" rIns="0" bIns="0" rtlCol="0" anchor="ctr"/>
          <a:lstStyle/>
          <a:p>
            <a:pPr marL="0" indent="0">
              <a:spcAft>
                <a:spcPts val="300"/>
              </a:spcAft>
              <a:buNone/>
            </a:pPr>
            <a:r>
              <a:rPr lang="en-US" sz="1700" b="1" dirty="0">
                <a:solidFill>
                  <a:schemeClr val="accent1"/>
                </a:solidFill>
                <a:latin typeface="Arial" pitchFamily="34" charset="0"/>
                <a:ea typeface="Arial" pitchFamily="34" charset="-122"/>
                <a:cs typeface="Arial" pitchFamily="34" charset="-120"/>
              </a:rPr>
              <a:t>Business Automation</a:t>
            </a:r>
            <a:endParaRPr lang="en-US" sz="1700" dirty="0"/>
          </a:p>
          <a:p>
            <a:pPr marL="0" indent="0">
              <a:buNone/>
            </a:pPr>
            <a:r>
              <a:rPr lang="en-US" sz="1400" dirty="0">
                <a:solidFill>
                  <a:schemeClr val="tx1"/>
                </a:solidFill>
                <a:latin typeface="Calibri" pitchFamily="34" charset="0"/>
                <a:ea typeface="Calibri" pitchFamily="34" charset="-122"/>
                <a:cs typeface="Calibri" pitchFamily="34" charset="-120"/>
              </a:rPr>
              <a:t>Opens the ticket, sets the SLA, notifies, writes the report</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371600" y="868680"/>
            <a:ext cx="9418320" cy="1188720"/>
          </a:xfrm>
          <a:prstGeom prst="rect">
            <a:avLst/>
          </a:prstGeom>
          <a:noFill/>
          <a:ln/>
        </p:spPr>
        <p:txBody>
          <a:bodyPr wrap="square" lIns="0" tIns="0" rIns="0" bIns="0" rtlCol="0" anchor="ctr"/>
          <a:lstStyle/>
          <a:p>
            <a:pPr marL="0" indent="0" algn="ctr">
              <a:buNone/>
            </a:pPr>
            <a:r>
              <a:rPr lang="en-US" sz="4400" b="1" dirty="0">
                <a:solidFill>
                  <a:schemeClr val="bg1"/>
                </a:solidFill>
                <a:latin typeface="Arial" pitchFamily="34" charset="0"/>
                <a:ea typeface="Arial" pitchFamily="34" charset="-122"/>
                <a:cs typeface="Arial" pitchFamily="34" charset="-120"/>
              </a:rPr>
              <a:t>HOW IT WORKS</a:t>
            </a:r>
            <a:endParaRPr lang="en-US" sz="4400" dirty="0"/>
          </a:p>
        </p:txBody>
      </p:sp>
      <p:sp>
        <p:nvSpPr>
          <p:cNvPr id="3" name="Step 1"/>
          <p:cNvSpPr txBox="1"/>
          <p:nvPr/>
        </p:nvSpPr>
        <p:spPr>
          <a:xfrm>
            <a:off x="3200400" y="2738628"/>
            <a:ext cx="7040880" cy="1060704"/>
          </a:xfrm>
          <a:prstGeom prst="rect">
            <a:avLst/>
          </a:prstGeom>
          <a:noFill/>
          <a:ln/>
        </p:spPr>
        <p:txBody>
          <a:bodyPr wrap="square" lIns="0" tIns="0" rIns="0" bIns="0" rtlCol="0" anchor="ctr"/>
          <a:lstStyle/>
          <a:p>
            <a:pPr marL="0" indent="0">
              <a:buNone/>
            </a:pPr>
            <a:r>
              <a:rPr lang="en-US" sz="1700" b="1" dirty="0">
                <a:solidFill>
                  <a:schemeClr val="bg1"/>
                </a:solidFill>
                <a:latin typeface="Calibri" pitchFamily="34" charset="0"/>
                <a:ea typeface="Calibri" pitchFamily="34" charset="-122"/>
                <a:cs typeface="Calibri" pitchFamily="34" charset="-120"/>
              </a:rPr>
              <a:t>Plan and enrich.</a:t>
            </a:r>
            <a:r>
              <a:rPr lang="en-US" sz="1700" dirty="0">
                <a:solidFill>
                  <a:schemeClr val="bg1"/>
                </a:solidFill>
                <a:latin typeface="Calibri" pitchFamily="34" charset="0"/>
                <a:ea typeface="Calibri" pitchFamily="34" charset="-122"/>
                <a:cs typeface="Calibri" pitchFamily="34" charset="-120"/>
              </a:rPr>
              <a:t> The Planner groups 153 alerts into 45 candidate incidents. Research lets the LLM plan lookups; Python rejects any tool or indicator it invented.</a:t>
            </a:r>
            <a:endParaRPr lang="en-US" sz="1700" dirty="0"/>
          </a:p>
        </p:txBody>
      </p:sp>
      <p:sp>
        <p:nvSpPr>
          <p:cNvPr id="4" name="Step 2"/>
          <p:cNvSpPr txBox="1"/>
          <p:nvPr/>
        </p:nvSpPr>
        <p:spPr>
          <a:xfrm>
            <a:off x="3200400" y="3762756"/>
            <a:ext cx="7040880" cy="1060704"/>
          </a:xfrm>
          <a:prstGeom prst="rect">
            <a:avLst/>
          </a:prstGeom>
          <a:noFill/>
          <a:ln/>
        </p:spPr>
        <p:txBody>
          <a:bodyPr wrap="square" lIns="0" tIns="0" rIns="0" bIns="0" rtlCol="0" anchor="ctr"/>
          <a:lstStyle/>
          <a:p>
            <a:pPr marL="0" indent="0">
              <a:buNone/>
            </a:pPr>
            <a:r>
              <a:rPr lang="en-US" sz="1700" b="1" dirty="0">
                <a:solidFill>
                  <a:schemeClr val="bg1"/>
                </a:solidFill>
                <a:latin typeface="Calibri" pitchFamily="34" charset="0"/>
                <a:ea typeface="Calibri" pitchFamily="34" charset="-122"/>
                <a:cs typeface="Calibri" pitchFamily="34" charset="-120"/>
              </a:rPr>
              <a:t>Correlate, score, route.</a:t>
            </a:r>
            <a:r>
              <a:rPr lang="en-US" sz="1700" dirty="0">
                <a:solidFill>
                  <a:schemeClr val="bg1"/>
                </a:solidFill>
                <a:latin typeface="Calibri" pitchFamily="34" charset="0"/>
                <a:ea typeface="Calibri" pitchFamily="34" charset="-122"/>
                <a:cs typeface="Calibri" pitchFamily="34" charset="-120"/>
              </a:rPr>
              <a:t> The Executor links kill-chain stages across hosts and scores 0 to 100. Below 40 auto-close, 40 to 69 analyst queue, 70 and above a playbook and Sigma rule.</a:t>
            </a:r>
            <a:endParaRPr lang="en-US" sz="1700" dirty="0"/>
          </a:p>
        </p:txBody>
      </p:sp>
      <p:sp>
        <p:nvSpPr>
          <p:cNvPr id="5" name="Step 3"/>
          <p:cNvSpPr txBox="1"/>
          <p:nvPr/>
        </p:nvSpPr>
        <p:spPr>
          <a:xfrm>
            <a:off x="3200400" y="4860036"/>
            <a:ext cx="7040880" cy="1060704"/>
          </a:xfrm>
          <a:prstGeom prst="rect">
            <a:avLst/>
          </a:prstGeom>
          <a:noFill/>
          <a:ln/>
        </p:spPr>
        <p:txBody>
          <a:bodyPr wrap="square" lIns="0" tIns="0" rIns="0" bIns="0" rtlCol="0" anchor="ctr"/>
          <a:lstStyle/>
          <a:p>
            <a:pPr marL="0" indent="0">
              <a:buNone/>
            </a:pPr>
            <a:r>
              <a:rPr lang="en-US" sz="1700" b="1" dirty="0">
                <a:solidFill>
                  <a:schemeClr val="bg1"/>
                </a:solidFill>
                <a:latin typeface="Calibri" pitchFamily="34" charset="0"/>
                <a:ea typeface="Calibri" pitchFamily="34" charset="-122"/>
                <a:cs typeface="Calibri" pitchFamily="34" charset="-120"/>
              </a:rPr>
              <a:t>Validate and approve.</a:t>
            </a:r>
            <a:r>
              <a:rPr lang="en-US" sz="1700" dirty="0">
                <a:solidFill>
                  <a:schemeClr val="bg1"/>
                </a:solidFill>
                <a:latin typeface="Calibri" pitchFamily="34" charset="0"/>
                <a:ea typeface="Calibri" pitchFamily="34" charset="-122"/>
                <a:cs typeface="Calibri" pitchFamily="34" charset="-120"/>
              </a:rPr>
              <a:t> The Critic checks evidence, score, rule and playbook, and fact-checks every LLM sentence. An analyst approves containment, then the run resumes.</a:t>
            </a:r>
            <a:endParaRPr lang="en-US" sz="1700" dirty="0"/>
          </a:p>
        </p:txBody>
      </p:sp>
      <p:sp>
        <p:nvSpPr>
          <p:cNvPr id="6" name="Demo note"/>
          <p:cNvSpPr txBox="1"/>
          <p:nvPr/>
        </p:nvSpPr>
        <p:spPr>
          <a:xfrm>
            <a:off x="1828800" y="6172200"/>
            <a:ext cx="8503920" cy="365760"/>
          </a:xfrm>
          <a:prstGeom prst="rect">
            <a:avLst/>
          </a:prstGeom>
          <a:noFill/>
          <a:ln/>
        </p:spPr>
        <p:txBody>
          <a:bodyPr wrap="square" lIns="0" tIns="0" rIns="0" bIns="0" rtlCol="0" anchor="t"/>
          <a:lstStyle/>
          <a:p>
            <a:pPr marL="0" indent="0" algn="ctr">
              <a:buNone/>
            </a:pPr>
            <a:r>
              <a:rPr lang="en-US" sz="1500" i="1" dirty="0">
                <a:solidFill>
                  <a:schemeClr val="bg1"/>
                </a:solidFill>
                <a:latin typeface="Calibri" pitchFamily="34" charset="0"/>
                <a:ea typeface="Calibri" pitchFamily="34" charset="-122"/>
                <a:cs typeface="Calibri" pitchFamily="34" charset="-120"/>
              </a:rPr>
              <a:t>Live demo: the full run takes about 97 seconds on a laptop CPU</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216152" y="868680"/>
            <a:ext cx="6400800" cy="1005840"/>
          </a:xfrm>
          <a:prstGeom prst="rect">
            <a:avLst/>
          </a:prstGeom>
          <a:noFill/>
          <a:ln/>
        </p:spPr>
        <p:txBody>
          <a:bodyPr wrap="square" lIns="0" tIns="0" rIns="0" bIns="0" rtlCol="0" anchor="ctr"/>
          <a:lstStyle/>
          <a:p>
            <a:pPr marL="0" indent="0" algn="l">
              <a:buNone/>
            </a:pPr>
            <a:r>
              <a:rPr lang="en-US" sz="4800" b="1" dirty="0">
                <a:solidFill>
                  <a:schemeClr val="bg1"/>
                </a:solidFill>
                <a:latin typeface="Arial" pitchFamily="34" charset="0"/>
                <a:ea typeface="Arial" pitchFamily="34" charset="-122"/>
                <a:cs typeface="Arial" pitchFamily="34" charset="-120"/>
              </a:rPr>
              <a:t>THE CRITIC</a:t>
            </a:r>
            <a:endParaRPr lang="en-US" sz="4800" dirty="0"/>
          </a:p>
        </p:txBody>
      </p:sp>
      <p:sp>
        <p:nvSpPr>
          <p:cNvPr id="3" name="Critic point 1"/>
          <p:cNvSpPr txBox="1"/>
          <p:nvPr/>
        </p:nvSpPr>
        <p:spPr>
          <a:xfrm>
            <a:off x="1920240" y="1984248"/>
            <a:ext cx="6583680" cy="1188720"/>
          </a:xfrm>
          <a:prstGeom prst="rect">
            <a:avLst/>
          </a:prstGeom>
          <a:noFill/>
          <a:ln/>
        </p:spPr>
        <p:txBody>
          <a:bodyPr wrap="square" lIns="0" tIns="0" rIns="0" bIns="0" rtlCol="0" anchor="ctr"/>
          <a:lstStyle/>
          <a:p>
            <a:pPr marL="0" indent="0">
              <a:buNone/>
            </a:pPr>
            <a:r>
              <a:rPr lang="en-US" sz="1700" b="1" dirty="0">
                <a:solidFill>
                  <a:schemeClr val="bg1"/>
                </a:solidFill>
                <a:latin typeface="Calibri" pitchFamily="34" charset="0"/>
                <a:ea typeface="Calibri" pitchFamily="34" charset="-122"/>
                <a:cs typeface="Calibri" pitchFamily="34" charset="-120"/>
              </a:rPr>
              <a:t>Re-derives, never trusts.</a:t>
            </a:r>
            <a:r>
              <a:rPr lang="en-US" sz="1700" dirty="0">
                <a:solidFill>
                  <a:schemeClr val="bg1"/>
                </a:solidFill>
                <a:latin typeface="Calibri" pitchFamily="34" charset="0"/>
                <a:ea typeface="Calibri" pitchFamily="34" charset="-122"/>
                <a:cs typeface="Calibri" pitchFamily="34" charset="-120"/>
              </a:rPr>
              <a:t> Lookups, evidence IDs and severity are recomputed from the raw alerts. A failure goes back to the agent that made it, with at most 2 retries.</a:t>
            </a:r>
            <a:endParaRPr lang="en-US" sz="1700" dirty="0"/>
          </a:p>
        </p:txBody>
      </p:sp>
      <p:sp>
        <p:nvSpPr>
          <p:cNvPr id="4" name="Critic point 2"/>
          <p:cNvSpPr txBox="1"/>
          <p:nvPr/>
        </p:nvSpPr>
        <p:spPr>
          <a:xfrm>
            <a:off x="1920240" y="3282696"/>
            <a:ext cx="6583680" cy="1188720"/>
          </a:xfrm>
          <a:prstGeom prst="rect">
            <a:avLst/>
          </a:prstGeom>
          <a:noFill/>
          <a:ln/>
        </p:spPr>
        <p:txBody>
          <a:bodyPr wrap="square" lIns="0" tIns="0" rIns="0" bIns="0" rtlCol="0" anchor="ctr"/>
          <a:lstStyle/>
          <a:p>
            <a:pPr marL="0" indent="0">
              <a:buNone/>
            </a:pPr>
            <a:r>
              <a:rPr lang="en-US" sz="1700" b="1" dirty="0">
                <a:solidFill>
                  <a:schemeClr val="bg1"/>
                </a:solidFill>
                <a:latin typeface="Calibri" pitchFamily="34" charset="0"/>
                <a:ea typeface="Calibri" pitchFamily="34" charset="-122"/>
                <a:cs typeface="Calibri" pitchFamily="34" charset="-120"/>
              </a:rPr>
              <a:t>Checks the code too.</a:t>
            </a:r>
            <a:r>
              <a:rPr lang="en-US" sz="1700" dirty="0">
                <a:solidFill>
                  <a:schemeClr val="bg1"/>
                </a:solidFill>
                <a:latin typeface="Calibri" pitchFamily="34" charset="0"/>
                <a:ea typeface="Calibri" pitchFamily="34" charset="-122"/>
                <a:cs typeface="Calibri" pitchFamily="34" charset="-120"/>
              </a:rPr>
              <a:t> A detection rule must fire on the attack and stay silent on benign logs. A playbook must preserve evidence before isolating a host.</a:t>
            </a:r>
            <a:endParaRPr lang="en-US" sz="1700" dirty="0"/>
          </a:p>
        </p:txBody>
      </p:sp>
      <p:sp>
        <p:nvSpPr>
          <p:cNvPr id="5" name="Critic point 3"/>
          <p:cNvSpPr txBox="1"/>
          <p:nvPr/>
        </p:nvSpPr>
        <p:spPr>
          <a:xfrm>
            <a:off x="1920240" y="4590288"/>
            <a:ext cx="6583680" cy="1188720"/>
          </a:xfrm>
          <a:prstGeom prst="rect">
            <a:avLst/>
          </a:prstGeom>
          <a:noFill/>
          <a:ln/>
        </p:spPr>
        <p:txBody>
          <a:bodyPr wrap="square" lIns="0" tIns="0" rIns="0" bIns="0" rtlCol="0" anchor="ctr"/>
          <a:lstStyle/>
          <a:p>
            <a:pPr marL="0" indent="0">
              <a:buNone/>
            </a:pPr>
            <a:r>
              <a:rPr lang="en-US" sz="1700" b="1" dirty="0">
                <a:solidFill>
                  <a:schemeClr val="bg1"/>
                </a:solidFill>
                <a:latin typeface="Calibri" pitchFamily="34" charset="0"/>
                <a:ea typeface="Calibri" pitchFamily="34" charset="-122"/>
                <a:cs typeface="Calibri" pitchFamily="34" charset="-120"/>
              </a:rPr>
              <a:t>Fact-checks every LLM sentence.</a:t>
            </a:r>
            <a:r>
              <a:rPr lang="en-US" sz="1700" dirty="0">
                <a:solidFill>
                  <a:schemeClr val="bg1"/>
                </a:solidFill>
                <a:latin typeface="Calibri" pitchFamily="34" charset="0"/>
                <a:ea typeface="Calibri" pitchFamily="34" charset="-122"/>
                <a:cs typeface="Calibri" pitchFamily="34" charset="-120"/>
              </a:rPr>
              <a:t> Any ID, IP address, host or number not in the facts is rejected and rewritten.</a:t>
            </a:r>
            <a:endParaRPr lang="en-US" sz="1700" dirty="0"/>
          </a:p>
        </p:txBody>
      </p:sp>
      <p:sp>
        <p:nvSpPr>
          <p:cNvPr id="6" name="Stat card CRITIC ON"/>
          <p:cNvSpPr/>
          <p:nvPr/>
        </p:nvSpPr>
        <p:spPr>
          <a:xfrm>
            <a:off x="9006840" y="1097280"/>
            <a:ext cx="2606040" cy="2194560"/>
          </a:xfrm>
          <a:prstGeom prst="roundRect">
            <a:avLst>
              <a:gd name="adj" fmla="val 6250"/>
            </a:avLst>
          </a:prstGeom>
          <a:solidFill>
            <a:schemeClr val="bg1"/>
          </a:solidFill>
          <a:ln/>
        </p:spPr>
      </p:sp>
      <p:sp>
        <p:nvSpPr>
          <p:cNvPr id="7" name="Stat caption CRITIC ON"/>
          <p:cNvSpPr txBox="1"/>
          <p:nvPr/>
        </p:nvSpPr>
        <p:spPr>
          <a:xfrm>
            <a:off x="9189720" y="1280160"/>
            <a:ext cx="2240280" cy="274320"/>
          </a:xfrm>
          <a:prstGeom prst="rect">
            <a:avLst/>
          </a:prstGeom>
          <a:noFill/>
          <a:ln/>
        </p:spPr>
        <p:txBody>
          <a:bodyPr wrap="square" lIns="0" tIns="0" rIns="0" bIns="0" rtlCol="0" anchor="t"/>
          <a:lstStyle/>
          <a:p>
            <a:pPr marL="0" indent="0">
              <a:buNone/>
            </a:pPr>
            <a:r>
              <a:rPr lang="en-US" sz="1400" b="1" dirty="0">
                <a:solidFill>
                  <a:schemeClr val="accent1"/>
                </a:solidFill>
                <a:latin typeface="Arial" pitchFamily="34" charset="0"/>
                <a:ea typeface="Arial" pitchFamily="34" charset="-122"/>
                <a:cs typeface="Arial" pitchFamily="34" charset="-120"/>
              </a:rPr>
              <a:t>CRITIC ON</a:t>
            </a:r>
            <a:endParaRPr lang="en-US" sz="1400" dirty="0"/>
          </a:p>
        </p:txBody>
      </p:sp>
      <p:sp>
        <p:nvSpPr>
          <p:cNvPr id="8" name="Stat number CRITIC ON"/>
          <p:cNvSpPr txBox="1"/>
          <p:nvPr/>
        </p:nvSpPr>
        <p:spPr>
          <a:xfrm>
            <a:off x="9189720" y="1600200"/>
            <a:ext cx="2240280" cy="777240"/>
          </a:xfrm>
          <a:prstGeom prst="rect">
            <a:avLst/>
          </a:prstGeom>
          <a:noFill/>
          <a:ln/>
        </p:spPr>
        <p:txBody>
          <a:bodyPr wrap="square" lIns="0" tIns="0" rIns="0" bIns="0" rtlCol="0" anchor="ctr"/>
          <a:lstStyle/>
          <a:p>
            <a:pPr marL="0" indent="0">
              <a:buNone/>
            </a:pPr>
            <a:r>
              <a:rPr lang="en-US" sz="4400" b="1" dirty="0">
                <a:solidFill>
                  <a:schemeClr val="accent1"/>
                </a:solidFill>
                <a:latin typeface="Arial" pitchFamily="34" charset="0"/>
                <a:ea typeface="Arial" pitchFamily="34" charset="-122"/>
                <a:cs typeface="Arial" pitchFamily="34" charset="-120"/>
              </a:rPr>
              <a:t>0/42</a:t>
            </a:r>
            <a:endParaRPr lang="en-US" sz="4400" dirty="0"/>
          </a:p>
        </p:txBody>
      </p:sp>
      <p:sp>
        <p:nvSpPr>
          <p:cNvPr id="9" name="Stat label CRITIC ON"/>
          <p:cNvSpPr txBox="1"/>
          <p:nvPr/>
        </p:nvSpPr>
        <p:spPr>
          <a:xfrm>
            <a:off x="9189720" y="2468880"/>
            <a:ext cx="2240280" cy="68580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injected faults reach the output when the Critic is enforcing</a:t>
            </a:r>
            <a:endParaRPr lang="en-US" sz="1400" dirty="0"/>
          </a:p>
        </p:txBody>
      </p:sp>
      <p:sp>
        <p:nvSpPr>
          <p:cNvPr id="10" name="Stat card CRITIC OFF"/>
          <p:cNvSpPr/>
          <p:nvPr/>
        </p:nvSpPr>
        <p:spPr>
          <a:xfrm>
            <a:off x="9006840" y="3520440"/>
            <a:ext cx="2606040" cy="2194560"/>
          </a:xfrm>
          <a:prstGeom prst="roundRect">
            <a:avLst>
              <a:gd name="adj" fmla="val 6250"/>
            </a:avLst>
          </a:prstGeom>
          <a:solidFill>
            <a:schemeClr val="bg1"/>
          </a:solidFill>
          <a:ln/>
        </p:spPr>
      </p:sp>
      <p:sp>
        <p:nvSpPr>
          <p:cNvPr id="11" name="Stat caption CRITIC OFF"/>
          <p:cNvSpPr txBox="1"/>
          <p:nvPr/>
        </p:nvSpPr>
        <p:spPr>
          <a:xfrm>
            <a:off x="9189720" y="3703320"/>
            <a:ext cx="2240280" cy="274320"/>
          </a:xfrm>
          <a:prstGeom prst="rect">
            <a:avLst/>
          </a:prstGeom>
          <a:noFill/>
          <a:ln/>
        </p:spPr>
        <p:txBody>
          <a:bodyPr wrap="square" lIns="0" tIns="0" rIns="0" bIns="0" rtlCol="0" anchor="t"/>
          <a:lstStyle/>
          <a:p>
            <a:pPr marL="0" indent="0">
              <a:buNone/>
            </a:pPr>
            <a:r>
              <a:rPr lang="en-US" sz="1400" b="1" dirty="0">
                <a:solidFill>
                  <a:schemeClr val="accent1"/>
                </a:solidFill>
                <a:latin typeface="Arial" pitchFamily="34" charset="0"/>
                <a:ea typeface="Arial" pitchFamily="34" charset="-122"/>
                <a:cs typeface="Arial" pitchFamily="34" charset="-120"/>
              </a:rPr>
              <a:t>CRITIC OFF</a:t>
            </a:r>
            <a:endParaRPr lang="en-US" sz="1400" dirty="0"/>
          </a:p>
        </p:txBody>
      </p:sp>
      <p:sp>
        <p:nvSpPr>
          <p:cNvPr id="12" name="Stat number CRITIC OFF"/>
          <p:cNvSpPr txBox="1"/>
          <p:nvPr/>
        </p:nvSpPr>
        <p:spPr>
          <a:xfrm>
            <a:off x="9189720" y="4023360"/>
            <a:ext cx="2240280" cy="777240"/>
          </a:xfrm>
          <a:prstGeom prst="rect">
            <a:avLst/>
          </a:prstGeom>
          <a:noFill/>
          <a:ln/>
        </p:spPr>
        <p:txBody>
          <a:bodyPr wrap="square" lIns="0" tIns="0" rIns="0" bIns="0" rtlCol="0" anchor="ctr"/>
          <a:lstStyle/>
          <a:p>
            <a:pPr marL="0" indent="0">
              <a:buNone/>
            </a:pPr>
            <a:r>
              <a:rPr lang="en-US" sz="4400" b="1" dirty="0">
                <a:solidFill>
                  <a:schemeClr val="accent1"/>
                </a:solidFill>
                <a:latin typeface="Arial" pitchFamily="34" charset="0"/>
                <a:ea typeface="Arial" pitchFamily="34" charset="-122"/>
                <a:cs typeface="Arial" pitchFamily="34" charset="-120"/>
              </a:rPr>
              <a:t>42/42</a:t>
            </a:r>
            <a:endParaRPr lang="en-US" sz="4400" dirty="0"/>
          </a:p>
        </p:txBody>
      </p:sp>
      <p:sp>
        <p:nvSpPr>
          <p:cNvPr id="13" name="Stat label CRITIC OFF"/>
          <p:cNvSpPr txBox="1"/>
          <p:nvPr/>
        </p:nvSpPr>
        <p:spPr>
          <a:xfrm>
            <a:off x="9189720" y="4892040"/>
            <a:ext cx="2240280" cy="68580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injected faults reach the output when the Critic is disabled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828800" y="868680"/>
            <a:ext cx="8503920" cy="1005840"/>
          </a:xfrm>
          <a:prstGeom prst="rect">
            <a:avLst/>
          </a:prstGeom>
          <a:noFill/>
          <a:ln/>
        </p:spPr>
        <p:txBody>
          <a:bodyPr wrap="square" lIns="0" tIns="0" rIns="0" bIns="0" rtlCol="0" anchor="ctr"/>
          <a:lstStyle/>
          <a:p>
            <a:pPr marL="0" indent="0" algn="ctr">
              <a:buNone/>
            </a:pPr>
            <a:r>
              <a:rPr lang="en-US" sz="4000" b="1" dirty="0">
                <a:solidFill>
                  <a:schemeClr val="accent1"/>
                </a:solidFill>
                <a:latin typeface="Arial" pitchFamily="34" charset="0"/>
                <a:ea typeface="Arial" pitchFamily="34" charset="-122"/>
                <a:cs typeface="Arial" pitchFamily="34" charset="-120"/>
              </a:rPr>
              <a:t>RESULTS AND EVALUATION</a:t>
            </a:r>
            <a:endParaRPr lang="en-US" sz="4000" dirty="0"/>
          </a:p>
        </p:txBody>
      </p:sp>
      <p:sp>
        <p:nvSpPr>
          <p:cNvPr id="3" name="Results points"/>
          <p:cNvSpPr txBox="1"/>
          <p:nvPr/>
        </p:nvSpPr>
        <p:spPr>
          <a:xfrm>
            <a:off x="5029200" y="2240280"/>
            <a:ext cx="5669280" cy="3840480"/>
          </a:xfrm>
          <a:prstGeom prst="rect">
            <a:avLst/>
          </a:prstGeom>
          <a:noFill/>
          <a:ln/>
        </p:spPr>
        <p:txBody>
          <a:bodyPr wrap="square" lIns="0" tIns="0" rIns="0" bIns="0" rtlCol="0" anchor="ctr"/>
          <a:lstStyle/>
          <a:p>
            <a:pPr marL="0" indent="0">
              <a:spcAft>
                <a:spcPts val="1200"/>
              </a:spcAft>
              <a:buNone/>
            </a:pPr>
            <a:r>
              <a:rPr lang="en-US" sz="1800" b="1" dirty="0">
                <a:solidFill>
                  <a:schemeClr val="accent1"/>
                </a:solidFill>
                <a:latin typeface="Calibri" pitchFamily="34" charset="0"/>
                <a:ea typeface="Calibri" pitchFamily="34" charset="-122"/>
                <a:cs typeface="Calibri" pitchFamily="34" charset="-120"/>
              </a:rPr>
              <a:t>4 of 4</a:t>
            </a:r>
            <a:r>
              <a:rPr lang="en-US" sz="1800" dirty="0">
                <a:solidFill>
                  <a:schemeClr val="accent1"/>
                </a:solidFill>
                <a:latin typeface="Calibri" pitchFamily="34" charset="0"/>
                <a:ea typeface="Calibri" pitchFamily="34" charset="-122"/>
                <a:cs typeface="Calibri" pitchFamily="34" charset="-120"/>
              </a:rPr>
              <a:t> attack chains found on the 153-alert demo dataset; </a:t>
            </a:r>
            <a:r>
              <a:rPr lang="en-US" sz="1800" b="1" dirty="0">
                <a:solidFill>
                  <a:schemeClr val="accent1"/>
                </a:solidFill>
                <a:latin typeface="Calibri" pitchFamily="34" charset="0"/>
                <a:ea typeface="Calibri" pitchFamily="34" charset="-122"/>
                <a:cs typeface="Calibri" pitchFamily="34" charset="-120"/>
              </a:rPr>
              <a:t>0 of 127</a:t>
            </a:r>
            <a:r>
              <a:rPr lang="en-US" sz="1800" dirty="0">
                <a:solidFill>
                  <a:schemeClr val="accent1"/>
                </a:solidFill>
                <a:latin typeface="Calibri" pitchFamily="34" charset="0"/>
                <a:ea typeface="Calibri" pitchFamily="34" charset="-122"/>
                <a:cs typeface="Calibri" pitchFamily="34" charset="-120"/>
              </a:rPr>
              <a:t> benign alerts escalated</a:t>
            </a:r>
            <a:endParaRPr lang="en-US" sz="1800" dirty="0"/>
          </a:p>
          <a:p>
            <a:pPr marL="0" indent="0">
              <a:spcAft>
                <a:spcPts val="1200"/>
              </a:spcAft>
              <a:buNone/>
            </a:pPr>
            <a:r>
              <a:rPr lang="en-US" sz="1800" dirty="0">
                <a:solidFill>
                  <a:schemeClr val="accent1"/>
                </a:solidFill>
                <a:latin typeface="Calibri" pitchFamily="34" charset="0"/>
                <a:ea typeface="Calibri" pitchFamily="34" charset="-122"/>
                <a:cs typeface="Calibri" pitchFamily="34" charset="-120"/>
              </a:rPr>
              <a:t>Precision, recall and F1 all </a:t>
            </a:r>
            <a:r>
              <a:rPr lang="en-US" sz="1800" b="1" dirty="0">
                <a:solidFill>
                  <a:schemeClr val="accent1"/>
                </a:solidFill>
                <a:latin typeface="Calibri" pitchFamily="34" charset="0"/>
                <a:ea typeface="Calibri" pitchFamily="34" charset="-122"/>
                <a:cs typeface="Calibri" pitchFamily="34" charset="-120"/>
              </a:rPr>
              <a:t>1.0</a:t>
            </a:r>
            <a:r>
              <a:rPr lang="en-US" sz="1800" dirty="0">
                <a:solidFill>
                  <a:schemeClr val="accent1"/>
                </a:solidFill>
                <a:latin typeface="Calibri" pitchFamily="34" charset="0"/>
                <a:ea typeface="Calibri" pitchFamily="34" charset="-122"/>
                <a:cs typeface="Calibri" pitchFamily="34" charset="-120"/>
              </a:rPr>
              <a:t>; </a:t>
            </a:r>
            <a:r>
              <a:rPr lang="en-US" sz="1800" b="1" dirty="0">
                <a:solidFill>
                  <a:schemeClr val="accent1"/>
                </a:solidFill>
                <a:latin typeface="Calibri" pitchFamily="34" charset="0"/>
                <a:ea typeface="Calibri" pitchFamily="34" charset="-122"/>
                <a:cs typeface="Calibri" pitchFamily="34" charset="-120"/>
              </a:rPr>
              <a:t>3 of 3</a:t>
            </a:r>
            <a:r>
              <a:rPr lang="en-US" sz="1800" dirty="0">
                <a:solidFill>
                  <a:schemeClr val="accent1"/>
                </a:solidFill>
                <a:latin typeface="Calibri" pitchFamily="34" charset="0"/>
                <a:ea typeface="Calibri" pitchFamily="34" charset="-122"/>
                <a:cs typeface="Calibri" pitchFamily="34" charset="-120"/>
              </a:rPr>
              <a:t> generated detection rules passed their tests</a:t>
            </a:r>
            <a:endParaRPr lang="en-US" sz="1800" dirty="0"/>
          </a:p>
          <a:p>
            <a:pPr marL="0" indent="0">
              <a:spcAft>
                <a:spcPts val="1200"/>
              </a:spcAft>
              <a:buNone/>
            </a:pPr>
            <a:r>
              <a:rPr lang="en-US" sz="1800" b="1" dirty="0">
                <a:solidFill>
                  <a:schemeClr val="accent1"/>
                </a:solidFill>
                <a:latin typeface="Calibri" pitchFamily="34" charset="0"/>
                <a:ea typeface="Calibri" pitchFamily="34" charset="-122"/>
                <a:cs typeface="Calibri" pitchFamily="34" charset="-120"/>
              </a:rPr>
              <a:t>57 of 60</a:t>
            </a:r>
            <a:r>
              <a:rPr lang="en-US" sz="1800" dirty="0">
                <a:solidFill>
                  <a:schemeClr val="accent1"/>
                </a:solidFill>
                <a:latin typeface="Calibri" pitchFamily="34" charset="0"/>
                <a:ea typeface="Calibri" pitchFamily="34" charset="-122"/>
                <a:cs typeface="Calibri" pitchFamily="34" charset="-120"/>
              </a:rPr>
              <a:t> chains found across 15 datasets; the 3 misses scored 65 and still reached the analyst queue</a:t>
            </a:r>
            <a:endParaRPr lang="en-US" sz="1800" dirty="0"/>
          </a:p>
          <a:p>
            <a:pPr marL="0" indent="0">
              <a:spcAft>
                <a:spcPts val="1200"/>
              </a:spcAft>
              <a:buNone/>
            </a:pPr>
            <a:r>
              <a:rPr lang="en-US" sz="1800" dirty="0">
                <a:solidFill>
                  <a:schemeClr val="accent1"/>
                </a:solidFill>
                <a:latin typeface="Calibri" pitchFamily="34" charset="0"/>
                <a:ea typeface="Calibri" pitchFamily="34" charset="-122"/>
                <a:cs typeface="Calibri" pitchFamily="34" charset="-120"/>
              </a:rPr>
              <a:t>Real Ollama run: </a:t>
            </a:r>
            <a:r>
              <a:rPr lang="en-US" sz="1800" b="1" dirty="0">
                <a:solidFill>
                  <a:schemeClr val="accent1"/>
                </a:solidFill>
                <a:latin typeface="Calibri" pitchFamily="34" charset="0"/>
                <a:ea typeface="Calibri" pitchFamily="34" charset="-122"/>
                <a:cs typeface="Calibri" pitchFamily="34" charset="-120"/>
              </a:rPr>
              <a:t>97 s</a:t>
            </a:r>
            <a:r>
              <a:rPr lang="en-US" sz="1800" dirty="0">
                <a:solidFill>
                  <a:schemeClr val="accent1"/>
                </a:solidFill>
                <a:latin typeface="Calibri" pitchFamily="34" charset="0"/>
                <a:ea typeface="Calibri" pitchFamily="34" charset="-122"/>
                <a:cs typeface="Calibri" pitchFamily="34" charset="-120"/>
              </a:rPr>
              <a:t> on a laptop CPU, with one Critic retry at each checkpoint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2286000" y="731520"/>
            <a:ext cx="7589520" cy="1554480"/>
          </a:xfrm>
          <a:prstGeom prst="rect">
            <a:avLst/>
          </a:prstGeom>
          <a:noFill/>
          <a:ln/>
        </p:spPr>
        <p:txBody>
          <a:bodyPr wrap="square" lIns="0" tIns="0" rIns="0" bIns="0" rtlCol="0" anchor="ctr"/>
          <a:lstStyle/>
          <a:p>
            <a:pPr marL="0" indent="0" algn="ctr">
              <a:buNone/>
            </a:pPr>
            <a:r>
              <a:rPr lang="en-US" sz="4000" b="1" dirty="0">
                <a:solidFill>
                  <a:schemeClr val="accent1"/>
                </a:solidFill>
                <a:latin typeface="Arial" pitchFamily="34" charset="0"/>
                <a:ea typeface="Arial" pitchFamily="34" charset="-122"/>
                <a:cs typeface="Arial" pitchFamily="34" charset="-120"/>
              </a:rPr>
              <a:t>LIMITATIONS AND FUTURE WORK</a:t>
            </a:r>
            <a:endParaRPr lang="en-US" sz="4000" dirty="0"/>
          </a:p>
        </p:txBody>
      </p:sp>
      <p:sp>
        <p:nvSpPr>
          <p:cNvPr id="3" name="Badge Limitations"/>
          <p:cNvSpPr/>
          <p:nvPr/>
        </p:nvSpPr>
        <p:spPr>
          <a:xfrm>
            <a:off x="2834640" y="2514600"/>
            <a:ext cx="548640" cy="548640"/>
          </a:xfrm>
          <a:prstGeom prst="ellipse">
            <a:avLst/>
          </a:prstGeom>
          <a:solidFill>
            <a:schemeClr val="accent1"/>
          </a:solidFill>
          <a:ln/>
        </p:spPr>
      </p:sp>
      <p:pic>
        <p:nvPicPr>
          <p:cNvPr id="4" name="Check Limitations" descr="Check mark"/>
          <p:cNvPicPr>
            <a:picLocks noChangeAspect="1"/>
          </p:cNvPicPr>
          <p:nvPr/>
        </p:nvPicPr>
        <p:blipFill>
          <a:blip r:embed="rId3"/>
          <a:stretch>
            <a:fillRect/>
          </a:stretch>
        </p:blipFill>
        <p:spPr>
          <a:xfrm>
            <a:off x="2971800" y="2651760"/>
            <a:ext cx="274320" cy="274320"/>
          </a:xfrm>
          <a:prstGeom prst="rect">
            <a:avLst/>
          </a:prstGeom>
        </p:spPr>
      </p:pic>
      <p:sp>
        <p:nvSpPr>
          <p:cNvPr id="5" name="Heading Limitations"/>
          <p:cNvSpPr txBox="1"/>
          <p:nvPr/>
        </p:nvSpPr>
        <p:spPr>
          <a:xfrm>
            <a:off x="3566160" y="2514600"/>
            <a:ext cx="2743200" cy="548640"/>
          </a:xfrm>
          <a:prstGeom prst="rect">
            <a:avLst/>
          </a:prstGeom>
          <a:noFill/>
          <a:ln/>
        </p:spPr>
        <p:txBody>
          <a:bodyPr wrap="square" lIns="0" tIns="0" rIns="0" bIns="0" rtlCol="0" anchor="ctr"/>
          <a:lstStyle/>
          <a:p>
            <a:pPr marL="0" indent="0">
              <a:buNone/>
            </a:pPr>
            <a:r>
              <a:rPr lang="en-US" sz="2400" b="1" dirty="0">
                <a:solidFill>
                  <a:schemeClr val="accent1"/>
                </a:solidFill>
                <a:latin typeface="Arial" pitchFamily="34" charset="0"/>
                <a:ea typeface="Arial" pitchFamily="34" charset="-122"/>
                <a:cs typeface="Arial" pitchFamily="34" charset="-120"/>
              </a:rPr>
              <a:t>Limitations</a:t>
            </a:r>
            <a:endParaRPr lang="en-US" sz="2400" dirty="0"/>
          </a:p>
        </p:txBody>
      </p:sp>
      <p:sp>
        <p:nvSpPr>
          <p:cNvPr id="6" name="Limitations list"/>
          <p:cNvSpPr txBox="1"/>
          <p:nvPr/>
        </p:nvSpPr>
        <p:spPr>
          <a:xfrm>
            <a:off x="2834640" y="3337560"/>
            <a:ext cx="3474720" cy="28346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Scripted synthetic attacks; the Windows sample is small and hand-written</a:t>
            </a:r>
            <a:endParaRPr lang="en-US" sz="1600" dirty="0"/>
          </a:p>
          <a:p>
            <a:pPr marL="228600" indent="-2286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Fixed correlation rules and rubric weights</a:t>
            </a:r>
            <a:endParaRPr lang="en-US" sz="1600" dirty="0"/>
          </a:p>
          <a:p>
            <a:pPr marL="228600" indent="-2286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Mock threat intel, ticketing and notifications</a:t>
            </a:r>
            <a:endParaRPr lang="en-US" sz="1600" dirty="0"/>
          </a:p>
          <a:p>
            <a:pPr marL="228600" indent="-2286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A 3B model writes plain prose; the fact-check blocks invented facts</a:t>
            </a:r>
            <a:endParaRPr lang="en-US" sz="1600" dirty="0"/>
          </a:p>
        </p:txBody>
      </p:sp>
      <p:sp>
        <p:nvSpPr>
          <p:cNvPr id="7" name="Badge Future work"/>
          <p:cNvSpPr/>
          <p:nvPr/>
        </p:nvSpPr>
        <p:spPr>
          <a:xfrm>
            <a:off x="6675120" y="2514600"/>
            <a:ext cx="548640" cy="548640"/>
          </a:xfrm>
          <a:prstGeom prst="ellipse">
            <a:avLst/>
          </a:prstGeom>
          <a:solidFill>
            <a:schemeClr val="accent1"/>
          </a:solidFill>
          <a:ln/>
        </p:spPr>
      </p:sp>
      <p:pic>
        <p:nvPicPr>
          <p:cNvPr id="8" name="Check Future work" descr="Check mark"/>
          <p:cNvPicPr>
            <a:picLocks noChangeAspect="1"/>
          </p:cNvPicPr>
          <p:nvPr/>
        </p:nvPicPr>
        <p:blipFill>
          <a:blip r:embed="rId3"/>
          <a:stretch>
            <a:fillRect/>
          </a:stretch>
        </p:blipFill>
        <p:spPr>
          <a:xfrm>
            <a:off x="6812280" y="2651760"/>
            <a:ext cx="274320" cy="274320"/>
          </a:xfrm>
          <a:prstGeom prst="rect">
            <a:avLst/>
          </a:prstGeom>
        </p:spPr>
      </p:pic>
      <p:sp>
        <p:nvSpPr>
          <p:cNvPr id="9" name="Heading Future work"/>
          <p:cNvSpPr txBox="1"/>
          <p:nvPr/>
        </p:nvSpPr>
        <p:spPr>
          <a:xfrm>
            <a:off x="7406640" y="2514600"/>
            <a:ext cx="2651760" cy="548640"/>
          </a:xfrm>
          <a:prstGeom prst="rect">
            <a:avLst/>
          </a:prstGeom>
          <a:noFill/>
          <a:ln/>
        </p:spPr>
        <p:txBody>
          <a:bodyPr wrap="square" lIns="0" tIns="0" rIns="0" bIns="0" rtlCol="0" anchor="ctr"/>
          <a:lstStyle/>
          <a:p>
            <a:pPr marL="0" indent="0">
              <a:buNone/>
            </a:pPr>
            <a:r>
              <a:rPr lang="en-US" sz="2400" b="1" dirty="0">
                <a:solidFill>
                  <a:schemeClr val="accent1"/>
                </a:solidFill>
                <a:latin typeface="Arial" pitchFamily="34" charset="0"/>
                <a:ea typeface="Arial" pitchFamily="34" charset="-122"/>
                <a:cs typeface="Arial" pitchFamily="34" charset="-120"/>
              </a:rPr>
              <a:t>Future work</a:t>
            </a:r>
            <a:endParaRPr lang="en-US" sz="2400" dirty="0"/>
          </a:p>
        </p:txBody>
      </p:sp>
      <p:sp>
        <p:nvSpPr>
          <p:cNvPr id="10" name="Future work list"/>
          <p:cNvSpPr txBox="1"/>
          <p:nvPr/>
        </p:nvSpPr>
        <p:spPr>
          <a:xfrm>
            <a:off x="6675120" y="3337560"/>
            <a:ext cx="3383280" cy="28346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Connect a real SIEM and threat-intel source such as MISP</a:t>
            </a:r>
            <a:endParaRPr lang="en-US" sz="1600" dirty="0"/>
          </a:p>
          <a:p>
            <a:pPr marL="228600" indent="-2286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Evaluate on public datasets such as OTRF Security-Datasets</a:t>
            </a:r>
            <a:endParaRPr lang="en-US" sz="1600" dirty="0"/>
          </a:p>
          <a:p>
            <a:pPr marL="228600" indent="-2286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Learn rubric weights from analyst verdicts</a:t>
            </a:r>
            <a:endParaRPr lang="en-US" sz="1600" dirty="0"/>
          </a:p>
          <a:p>
            <a:pPr marL="228600" indent="-2286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Add authentication, stored runs and role-based approval</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2286000" y="2331720"/>
            <a:ext cx="7589520" cy="1188720"/>
          </a:xfrm>
          <a:prstGeom prst="rect">
            <a:avLst/>
          </a:prstGeom>
          <a:noFill/>
          <a:ln/>
        </p:spPr>
        <p:txBody>
          <a:bodyPr wrap="square" lIns="0" tIns="0" rIns="0" bIns="0" rtlCol="0" anchor="ctr"/>
          <a:lstStyle/>
          <a:p>
            <a:pPr marL="0" indent="0" algn="ctr">
              <a:buNone/>
            </a:pPr>
            <a:r>
              <a:rPr lang="en-US" sz="7200" b="1" dirty="0">
                <a:solidFill>
                  <a:schemeClr val="accent1"/>
                </a:solidFill>
                <a:latin typeface="Arial" pitchFamily="34" charset="0"/>
                <a:ea typeface="Arial" pitchFamily="34" charset="-122"/>
                <a:cs typeface="Arial" pitchFamily="34" charset="-120"/>
              </a:rPr>
              <a:t>THANK YOU</a:t>
            </a:r>
            <a:endParaRPr lang="en-US" sz="7200" dirty="0"/>
          </a:p>
        </p:txBody>
      </p:sp>
      <p:sp>
        <p:nvSpPr>
          <p:cNvPr id="3" name="Presenters"/>
          <p:cNvSpPr txBox="1"/>
          <p:nvPr/>
        </p:nvSpPr>
        <p:spPr>
          <a:xfrm>
            <a:off x="2286000" y="3657600"/>
            <a:ext cx="7589520" cy="502920"/>
          </a:xfrm>
          <a:prstGeom prst="rect">
            <a:avLst/>
          </a:prstGeom>
          <a:noFill/>
          <a:ln/>
        </p:spPr>
        <p:txBody>
          <a:bodyPr wrap="square" lIns="0" tIns="0" rIns="0" bIns="0" rtlCol="0" anchor="t"/>
          <a:lstStyle/>
          <a:p>
            <a:pPr marL="0" indent="0" algn="ctr">
              <a:buNone/>
            </a:pPr>
            <a:r>
              <a:rPr lang="en-US" sz="2400" b="1" dirty="0">
                <a:solidFill>
                  <a:schemeClr val="accent1"/>
                </a:solidFill>
                <a:latin typeface="Calibri" pitchFamily="34" charset="0"/>
                <a:ea typeface="Calibri" pitchFamily="34" charset="-122"/>
                <a:cs typeface="Calibri" pitchFamily="34" charset="-120"/>
              </a:rPr>
              <a:t>Presented by Dakshesh Chauhan and Bhavya Tanna</a:t>
            </a:r>
            <a:endParaRPr lang="en-US" sz="2400" dirty="0"/>
          </a:p>
        </p:txBody>
      </p:sp>
      <p:sp>
        <p:nvSpPr>
          <p:cNvPr id="4" name="Source link"/>
          <p:cNvSpPr txBox="1"/>
          <p:nvPr/>
        </p:nvSpPr>
        <p:spPr>
          <a:xfrm>
            <a:off x="2286000" y="4297680"/>
            <a:ext cx="7589520" cy="411480"/>
          </a:xfrm>
          <a:prstGeom prst="rect">
            <a:avLst/>
          </a:prstGeom>
          <a:noFill/>
          <a:ln/>
        </p:spPr>
        <p:txBody>
          <a:bodyPr wrap="square" lIns="0" tIns="0" rIns="0" bIns="0" rtlCol="0" anchor="t"/>
          <a:lstStyle/>
          <a:p>
            <a:pPr marL="0" indent="0" algn="ctr">
              <a:buNone/>
            </a:pPr>
            <a:r>
              <a:rPr lang="en-US" sz="1800" dirty="0">
                <a:solidFill>
                  <a:schemeClr val="accent1"/>
                </a:solidFill>
                <a:latin typeface="Calibri" pitchFamily="34" charset="0"/>
                <a:ea typeface="Calibri" pitchFamily="34" charset="-122"/>
                <a:cs typeface="Calibri" pitchFamily="34" charset="-120"/>
              </a:rPr>
              <a:t>Source code: github.com/da-ksh-esh/SOCAgent</a:t>
            </a:r>
            <a:endParaRPr lang="en-US" sz="1800" dirty="0"/>
          </a:p>
        </p:txBody>
      </p:sp>
    </p:spTree>
  </p:cSld>
  <p:clrMapOvr>
    <a:masterClrMapping/>
  </p:clrMapOvr>
</p:sld>
</file>

<file path=ppt/theme/theme1.xml><?xml version="1.0" encoding="utf-8"?>
<a:theme xmlns:a="http://schemas.openxmlformats.org/drawingml/2006/main" name="SOC Agents Blue">
  <a:themeElements>
    <a:clrScheme name="SOC Agents Blue">
      <a:dk1>
        <a:srgbClr val="0B2A55"/>
      </a:dk1>
      <a:lt1>
        <a:srgbClr val="FFFFFF"/>
      </a:lt1>
      <a:dk2>
        <a:srgbClr val="005EC2"/>
      </a:dk2>
      <a:lt2>
        <a:srgbClr val="EAF3FC"/>
      </a:lt2>
      <a:accent1>
        <a:srgbClr val="005EC2"/>
      </a:accent1>
      <a:accent2>
        <a:srgbClr val="6BD0F7"/>
      </a:accent2>
      <a:accent3>
        <a:srgbClr val="F7DC5C"/>
      </a:accent3>
      <a:accent4>
        <a:srgbClr val="0099FF"/>
      </a:accent4>
      <a:accent5>
        <a:srgbClr val="1C4FC4"/>
      </a:accent5>
      <a:accent6>
        <a:srgbClr val="FF69B4"/>
      </a:accent6>
      <a:hlink>
        <a:srgbClr val="005EC2"/>
      </a:hlink>
      <a:folHlink>
        <a:srgbClr val="1C4FC4"/>
      </a:folHlink>
    </a:clrScheme>
    <a:fontScheme name="SOC Agents Blu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1308</Words>
  <Application>Microsoft Office PowerPoint</Application>
  <PresentationFormat>Widescreen</PresentationFormat>
  <Paragraphs>94</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SOC Agents Blue</vt:lpstr>
      <vt:lpstr>MULTI-AGENT SOC ALERT TRIAGE</vt:lpstr>
      <vt:lpstr>PROBLEM STATEMENT</vt:lpstr>
      <vt:lpstr>PROJECT SCOPE</vt:lpstr>
      <vt:lpstr>SYSTEM ARCHITECTURE</vt:lpstr>
      <vt:lpstr>THE SIX AGENTS</vt:lpstr>
      <vt:lpstr>HOW IT WORKS</vt:lpstr>
      <vt:lpstr>THE CRITIC</vt:lpstr>
      <vt:lpstr>RESULTS AND EVALUATION</vt:lpstr>
      <vt:lpstr>LIMITATIONS AND FUTURE WORK</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Multi-Agent SOC Alert Triage and Incident Response Assistant</dc:title>
  <dc:subject>PptxGenJS Presentation</dc:subject>
  <dc:creator>Dakshesh Chauhan</dc:creator>
  <cp:lastModifiedBy>Dakshesh Chauhan</cp:lastModifiedBy>
  <cp:revision>2</cp:revision>
  <dcterms:created xsi:type="dcterms:W3CDTF">2026-10-19T17:21:56Z</dcterms:created>
  <dcterms:modified xsi:type="dcterms:W3CDTF">2026-10-19T17:52:37Z</dcterms:modified>
</cp:coreProperties>
</file>